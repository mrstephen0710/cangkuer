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2000" cy="6858000"/>
  <p:notesSz cx="6858000" cy="12192000"/>
  <p:embeddedFontLst>
    <p:embeddedFont>
      <p:font typeface="MiSans" charset="-122" pitchFamily="34"/>
      <p:regular r:id="rId28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Relationship Id="rId28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2-2.png"/><Relationship Id="rId3" Type="http://schemas.openxmlformats.org/officeDocument/2006/relationships/image" Target="../media/image-2-2.png"/><Relationship Id="rId4" Type="http://schemas.openxmlformats.org/officeDocument/2006/relationships/image" Target="../media/image-2-2.png"/><Relationship Id="rId5" Type="http://schemas.openxmlformats.org/officeDocument/2006/relationships/image" Target="../media/image-2-2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image" Target="../media/image-2-10.png"/><Relationship Id="rId12" Type="http://schemas.openxmlformats.org/officeDocument/2006/relationships/image" Target="../media/image-2-10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jpe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jpe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5.png"/><Relationship Id="rId7" Type="http://schemas.openxmlformats.org/officeDocument/2006/relationships/image" Target="../media/image-4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image" Target="../media/image-5-2.png"/><Relationship Id="rId3" Type="http://schemas.openxmlformats.org/officeDocument/2006/relationships/image" Target="../media/image-5-2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jpe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jpe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1.png"/><Relationship Id="rId3" Type="http://schemas.openxmlformats.org/officeDocument/2006/relationships/image" Target="../media/image-7-1.png"/><Relationship Id="rId4" Type="http://schemas.openxmlformats.org/officeDocument/2006/relationships/image" Target="../media/image-7-4.png"/><Relationship Id="rId5" Type="http://schemas.openxmlformats.org/officeDocument/2006/relationships/image" Target="../media/image-7-4.png"/><Relationship Id="rId6" Type="http://schemas.openxmlformats.org/officeDocument/2006/relationships/image" Target="../media/image-7-4.png"/><Relationship Id="rId7" Type="http://schemas.openxmlformats.org/officeDocument/2006/relationships/image" Target="../media/image-7-7.png"/><Relationship Id="rId8" Type="http://schemas.openxmlformats.org/officeDocument/2006/relationships/image" Target="../media/image-4-2.png"/><Relationship Id="rId9" Type="http://schemas.openxmlformats.org/officeDocument/2006/relationships/image" Target="../media/image-7-9.png"/><Relationship Id="rId10" Type="http://schemas.openxmlformats.org/officeDocument/2006/relationships/image" Target="../media/image-4-3.png"/><Relationship Id="rId11" Type="http://schemas.openxmlformats.org/officeDocument/2006/relationships/image" Target="../media/image-7-11.png"/><Relationship Id="rId12" Type="http://schemas.openxmlformats.org/officeDocument/2006/relationships/image" Target="../media/image-7-12.png"/><Relationship Id="rId13" Type="http://schemas.openxmlformats.org/officeDocument/2006/relationships/image" Target="../media/image-7-13.png"/><Relationship Id="rId14" Type="http://schemas.openxmlformats.org/officeDocument/2006/relationships/image" Target="../media/image-7-14.png"/><Relationship Id="rId15" Type="http://schemas.openxmlformats.org/officeDocument/2006/relationships/image" Target="../media/image-7-15.png"/><Relationship Id="rId16" Type="http://schemas.openxmlformats.org/officeDocument/2006/relationships/image" Target="../media/image-7-16.png"/><Relationship Id="rId17" Type="http://schemas.openxmlformats.org/officeDocument/2006/relationships/slideLayout" Target="../slideLayouts/slideLayout1.xml"/><Relationship Id="rId1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image" Target="../media/image-8-2.png"/><Relationship Id="rId3" Type="http://schemas.openxmlformats.org/officeDocument/2006/relationships/image" Target="../media/image-4-2.png"/><Relationship Id="rId4" Type="http://schemas.openxmlformats.org/officeDocument/2006/relationships/image" Target="../media/image-4-3.png"/><Relationship Id="rId5" Type="http://schemas.openxmlformats.org/officeDocument/2006/relationships/image" Target="../media/image-8-5.jpeg"/><Relationship Id="rId6" Type="http://schemas.openxmlformats.org/officeDocument/2006/relationships/image" Target="../media/image-8-6.jpe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jpe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image" Target="../media/image-10-2.jpeg"/><Relationship Id="rId3" Type="http://schemas.openxmlformats.org/officeDocument/2006/relationships/image" Target="../media/image-10-3.png"/><Relationship Id="rId4" Type="http://schemas.openxmlformats.org/officeDocument/2006/relationships/image" Target="../media/image-10-3.png"/><Relationship Id="rId5" Type="http://schemas.openxmlformats.org/officeDocument/2006/relationships/image" Target="../media/image-10-3.png"/><Relationship Id="rId6" Type="http://schemas.openxmlformats.org/officeDocument/2006/relationships/image" Target="../media/image-10-6.png"/><Relationship Id="rId7" Type="http://schemas.openxmlformats.org/officeDocument/2006/relationships/image" Target="../media/image-10-6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jpeg"/><Relationship Id="rId2" Type="http://schemas.openxmlformats.org/officeDocument/2006/relationships/image" Target="../media/image-11-2.png"/><Relationship Id="rId3" Type="http://schemas.openxmlformats.org/officeDocument/2006/relationships/image" Target="../media/image-11-2.png"/><Relationship Id="rId4" Type="http://schemas.openxmlformats.org/officeDocument/2006/relationships/image" Target="../media/image-11-4.png"/><Relationship Id="rId5" Type="http://schemas.openxmlformats.org/officeDocument/2006/relationships/image" Target="../media/image-4-2.png"/><Relationship Id="rId6" Type="http://schemas.openxmlformats.org/officeDocument/2006/relationships/image" Target="../media/image-4-3.png"/><Relationship Id="rId7" Type="http://schemas.openxmlformats.org/officeDocument/2006/relationships/image" Target="../media/image-11-7.png"/><Relationship Id="rId8" Type="http://schemas.openxmlformats.org/officeDocument/2006/relationships/image" Target="../media/image-11-8.png"/><Relationship Id="rId9" Type="http://schemas.openxmlformats.org/officeDocument/2006/relationships/image" Target="../media/image-11-4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jpeg"/><Relationship Id="rId2" Type="http://schemas.openxmlformats.org/officeDocument/2006/relationships/image" Target="../media/image-7-9.png"/><Relationship Id="rId3" Type="http://schemas.openxmlformats.org/officeDocument/2006/relationships/image" Target="../media/image-7-9.png"/><Relationship Id="rId4" Type="http://schemas.openxmlformats.org/officeDocument/2006/relationships/image" Target="../media/image-12-4.png"/><Relationship Id="rId5" Type="http://schemas.openxmlformats.org/officeDocument/2006/relationships/image" Target="../media/image-12-4.png"/><Relationship Id="rId6" Type="http://schemas.openxmlformats.org/officeDocument/2006/relationships/image" Target="../media/image-4-2.png"/><Relationship Id="rId7" Type="http://schemas.openxmlformats.org/officeDocument/2006/relationships/image" Target="../media/image-4-3.png"/><Relationship Id="rId8" Type="http://schemas.openxmlformats.org/officeDocument/2006/relationships/image" Target="../media/image-7-7.png"/><Relationship Id="rId9" Type="http://schemas.openxmlformats.org/officeDocument/2006/relationships/image" Target="../media/image-12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jpeg"/><Relationship Id="rId2" Type="http://schemas.openxmlformats.org/officeDocument/2006/relationships/image" Target="../media/image-13-2.jpg"/><Relationship Id="rId3" Type="http://schemas.openxmlformats.org/officeDocument/2006/relationships/image" Target="../media/image-4-2.png"/><Relationship Id="rId4" Type="http://schemas.openxmlformats.org/officeDocument/2006/relationships/image" Target="../media/image-8-2.png"/><Relationship Id="rId5" Type="http://schemas.openxmlformats.org/officeDocument/2006/relationships/image" Target="../media/image-7-9.png"/><Relationship Id="rId6" Type="http://schemas.openxmlformats.org/officeDocument/2006/relationships/image" Target="../media/image-4-3.png"/><Relationship Id="rId7" Type="http://schemas.openxmlformats.org/officeDocument/2006/relationships/image" Target="../media/image-13-7.png"/><Relationship Id="rId8" Type="http://schemas.openxmlformats.org/officeDocument/2006/relationships/image" Target="../media/image-13-8.jp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image" Target="../media/image-8-2.png"/><Relationship Id="rId3" Type="http://schemas.openxmlformats.org/officeDocument/2006/relationships/image" Target="../media/image-4-2.png"/><Relationship Id="rId4" Type="http://schemas.openxmlformats.org/officeDocument/2006/relationships/image" Target="../media/image-4-3.png"/><Relationship Id="rId5" Type="http://schemas.openxmlformats.org/officeDocument/2006/relationships/image" Target="../media/image-8-5.jpeg"/><Relationship Id="rId6" Type="http://schemas.openxmlformats.org/officeDocument/2006/relationships/image" Target="../media/image-8-6.jpe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jpe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jpeg"/><Relationship Id="rId2" Type="http://schemas.openxmlformats.org/officeDocument/2006/relationships/image" Target="../media/image-11-2.png"/><Relationship Id="rId3" Type="http://schemas.openxmlformats.org/officeDocument/2006/relationships/image" Target="../media/image-11-2.png"/><Relationship Id="rId4" Type="http://schemas.openxmlformats.org/officeDocument/2006/relationships/image" Target="../media/image-11-4.png"/><Relationship Id="rId5" Type="http://schemas.openxmlformats.org/officeDocument/2006/relationships/image" Target="../media/image-4-2.png"/><Relationship Id="rId6" Type="http://schemas.openxmlformats.org/officeDocument/2006/relationships/image" Target="../media/image-4-3.png"/><Relationship Id="rId7" Type="http://schemas.openxmlformats.org/officeDocument/2006/relationships/image" Target="../media/image-11-7.png"/><Relationship Id="rId8" Type="http://schemas.openxmlformats.org/officeDocument/2006/relationships/image" Target="../media/image-11-8.png"/><Relationship Id="rId9" Type="http://schemas.openxmlformats.org/officeDocument/2006/relationships/image" Target="../media/image-11-4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image" Target="../media/image-8-2.png"/><Relationship Id="rId3" Type="http://schemas.openxmlformats.org/officeDocument/2006/relationships/image" Target="../media/image-4-2.png"/><Relationship Id="rId4" Type="http://schemas.openxmlformats.org/officeDocument/2006/relationships/image" Target="../media/image-4-3.png"/><Relationship Id="rId5" Type="http://schemas.openxmlformats.org/officeDocument/2006/relationships/image" Target="../media/image-8-5.jpeg"/><Relationship Id="rId6" Type="http://schemas.openxmlformats.org/officeDocument/2006/relationships/image" Target="../media/image-8-6.jpe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jpe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image" Target="../media/image-10-3.png"/><Relationship Id="rId3" Type="http://schemas.openxmlformats.org/officeDocument/2006/relationships/image" Target="../media/image-10-3.png"/><Relationship Id="rId4" Type="http://schemas.openxmlformats.org/officeDocument/2006/relationships/image" Target="../media/image-10-3.png"/><Relationship Id="rId5" Type="http://schemas.openxmlformats.org/officeDocument/2006/relationships/image" Target="../media/image-10-6.png"/><Relationship Id="rId6" Type="http://schemas.openxmlformats.org/officeDocument/2006/relationships/image" Target="../media/image-10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image" Target="../media/image-5-2.png"/><Relationship Id="rId3" Type="http://schemas.openxmlformats.org/officeDocument/2006/relationships/image" Target="../media/image-5-2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jpe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jpeg"/><Relationship Id="rId2" Type="http://schemas.openxmlformats.org/officeDocument/2006/relationships/image" Target="../media/image-7-9.png"/><Relationship Id="rId3" Type="http://schemas.openxmlformats.org/officeDocument/2006/relationships/image" Target="../media/image-21-3.png"/><Relationship Id="rId4" Type="http://schemas.openxmlformats.org/officeDocument/2006/relationships/image" Target="../media/image-2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alphaModFix amt="96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H="1">
            <a:off x="4814570" y="3940175"/>
            <a:ext cx="6555740" cy="0"/>
          </a:xfrm>
          <a:prstGeom prst="line">
            <a:avLst/>
          </a:prstGeom>
          <a:noFill/>
          <a:ln w="381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3" name="Shape 1"/>
          <p:cNvSpPr/>
          <p:nvPr/>
        </p:nvSpPr>
        <p:spPr>
          <a:xfrm>
            <a:off x="5947431" y="4854322"/>
            <a:ext cx="5455376" cy="429260"/>
          </a:xfrm>
          <a:prstGeom prst="roundRect">
            <a:avLst>
              <a:gd name="adj" fmla="val 50000"/>
            </a:avLst>
          </a:prstGeom>
          <a:solidFill>
            <a:srgbClr val="1786DB"/>
          </a:solidFill>
          <a:ln/>
        </p:spPr>
      </p:sp>
      <p:sp>
        <p:nvSpPr>
          <p:cNvPr id="4" name="Text 2"/>
          <p:cNvSpPr/>
          <p:nvPr/>
        </p:nvSpPr>
        <p:spPr>
          <a:xfrm>
            <a:off x="5947431" y="4854322"/>
            <a:ext cx="5455376" cy="4292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indent="0" marL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521538" y="4854322"/>
            <a:ext cx="3881269" cy="42989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智能零售—江西财经大学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086735" y="970915"/>
            <a:ext cx="8166100" cy="55245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30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2025.07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6017" y="1552575"/>
            <a:ext cx="11252974" cy="258184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6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基于大模型的智慧零售机器人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468423" y="5503366"/>
            <a:ext cx="6934384" cy="429260"/>
          </a:xfrm>
          <a:prstGeom prst="roundRect">
            <a:avLst>
              <a:gd name="adj" fmla="val 50000"/>
            </a:avLst>
          </a:prstGeom>
          <a:solidFill>
            <a:srgbClr val="1786DB"/>
          </a:solidFill>
          <a:ln/>
        </p:spPr>
      </p:sp>
      <p:sp>
        <p:nvSpPr>
          <p:cNvPr id="9" name="Text 7"/>
          <p:cNvSpPr/>
          <p:nvPr/>
        </p:nvSpPr>
        <p:spPr>
          <a:xfrm>
            <a:off x="4327928" y="5503366"/>
            <a:ext cx="7009437" cy="42989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指导老师：钱峰    团队成员：叶恒远 郭健民 李俊超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alphaModFix amt="86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test-kimi-img.moonshot.cn/pub/slides/slides_tmpl/image/25-07-11-18:10:07-d1oe5vtcmrb5eq9iqa8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8685" y="594995"/>
            <a:ext cx="4876800" cy="993775"/>
          </a:xfrm>
          <a:prstGeom prst="rect">
            <a:avLst/>
          </a:prstGeom>
        </p:spPr>
      </p:pic>
      <p:pic>
        <p:nvPicPr>
          <p:cNvPr id="3" name="Image 1" descr="https://test-kimi-img.moonshot.cn/pub/slides/slides_tmpl/image/25-07-11-18:10:07-d1oe5vtcmrb5eq9iqa8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7140" y="1788795"/>
            <a:ext cx="4876800" cy="993775"/>
          </a:xfrm>
          <a:prstGeom prst="rect">
            <a:avLst/>
          </a:prstGeom>
        </p:spPr>
      </p:pic>
      <p:pic>
        <p:nvPicPr>
          <p:cNvPr id="4" name="Image 2" descr="https://test-kimi-img.moonshot.cn/pub/slides/slides_tmpl/image/25-07-11-18:10:07-d1oe5vtcmrb5eq9iqa8g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50840" y="2964815"/>
            <a:ext cx="4876800" cy="993775"/>
          </a:xfrm>
          <a:prstGeom prst="rect">
            <a:avLst/>
          </a:prstGeom>
        </p:spPr>
      </p:pic>
      <p:pic>
        <p:nvPicPr>
          <p:cNvPr id="5" name="Image 3" descr="https://test-kimi-img.moonshot.cn/pub/slides/slides_tmpl/image/25-07-11-18:10:07-d1oe5vtcmrb5eq9iqa8g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57140" y="4151630"/>
            <a:ext cx="4876800" cy="993775"/>
          </a:xfrm>
          <a:prstGeom prst="rect">
            <a:avLst/>
          </a:prstGeom>
        </p:spPr>
      </p:pic>
      <p:pic>
        <p:nvPicPr>
          <p:cNvPr id="6" name="Image 4" descr="https://test-kimi-img.moonshot.cn/pub/slides/slides_tmpl/image/25-07-11-18:10:08-d1oe605cmrb5eq9iqa9g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947420" y="0"/>
            <a:ext cx="6772910" cy="6858000"/>
          </a:xfrm>
          <a:prstGeom prst="rect">
            <a:avLst/>
          </a:prstGeom>
        </p:spPr>
      </p:pic>
      <p:pic>
        <p:nvPicPr>
          <p:cNvPr id="7" name="Image 5" descr="https://test-kimi-img.moonshot.cn/pub/slides/slides_tmpl/image/25-07-11-18:10:07-d1oe5vtcmrb5eq9iqa80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89355" y="1819275"/>
            <a:ext cx="3218815" cy="3218815"/>
          </a:xfrm>
          <a:prstGeom prst="rect">
            <a:avLst/>
          </a:prstGeom>
        </p:spPr>
      </p:pic>
      <p:sp>
        <p:nvSpPr>
          <p:cNvPr id="8" name="Text 0"/>
          <p:cNvSpPr/>
          <p:nvPr/>
        </p:nvSpPr>
        <p:spPr>
          <a:xfrm>
            <a:off x="5450840" y="855345"/>
            <a:ext cx="4092575" cy="52451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项目概述</a:t>
            </a:r>
            <a:endParaRPr lang="en-US" sz="1600" dirty="0"/>
          </a:p>
        </p:txBody>
      </p:sp>
      <p:sp>
        <p:nvSpPr>
          <p:cNvPr id="9" name="Shape 1"/>
          <p:cNvSpPr/>
          <p:nvPr/>
        </p:nvSpPr>
        <p:spPr>
          <a:xfrm>
            <a:off x="4981575" y="804545"/>
            <a:ext cx="469265" cy="469265"/>
          </a:xfrm>
          <a:prstGeom prst="ellipse">
            <a:avLst/>
          </a:prstGeom>
          <a:gradFill rotWithShape="1" flip="none">
            <a:gsLst>
              <a:gs pos="2000">
                <a:srgbClr val="D1DCF2">
                  <a:alpha val="83000"/>
                </a:srgbClr>
              </a:gs>
              <a:gs pos="55000">
                <a:srgbClr val="4874CB">
                  <a:alpha val="69000"/>
                </a:srgbClr>
              </a:gs>
              <a:gs pos="100000">
                <a:srgbClr val="345FB6"/>
              </a:gs>
            </a:gsLst>
            <a:path path="circle">
              <a:fillToRect r="100000" b="100000"/>
            </a:path>
            <a:tileRect t="-100000" l="-100000"/>
          </a:gradFill>
          <a:ln/>
        </p:spPr>
      </p:sp>
      <p:sp>
        <p:nvSpPr>
          <p:cNvPr id="10" name="Text 2"/>
          <p:cNvSpPr/>
          <p:nvPr/>
        </p:nvSpPr>
        <p:spPr>
          <a:xfrm>
            <a:off x="4981575" y="804545"/>
            <a:ext cx="469265" cy="46926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indent="0" marL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1" name="Text 3"/>
          <p:cNvSpPr/>
          <p:nvPr/>
        </p:nvSpPr>
        <p:spPr>
          <a:xfrm>
            <a:off x="5001260" y="842645"/>
            <a:ext cx="513080" cy="43116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01</a:t>
            </a:r>
            <a:endParaRPr lang="en-US" sz="1600" dirty="0"/>
          </a:p>
        </p:txBody>
      </p:sp>
      <p:sp>
        <p:nvSpPr>
          <p:cNvPr id="12" name="Shape 4"/>
          <p:cNvSpPr/>
          <p:nvPr/>
        </p:nvSpPr>
        <p:spPr>
          <a:xfrm>
            <a:off x="5486400" y="1988185"/>
            <a:ext cx="469265" cy="469265"/>
          </a:xfrm>
          <a:prstGeom prst="ellipse">
            <a:avLst/>
          </a:prstGeom>
          <a:gradFill rotWithShape="1" flip="none">
            <a:gsLst>
              <a:gs pos="2000">
                <a:srgbClr val="D1DCF2">
                  <a:alpha val="83000"/>
                </a:srgbClr>
              </a:gs>
              <a:gs pos="55000">
                <a:srgbClr val="4874CB">
                  <a:alpha val="69000"/>
                </a:srgbClr>
              </a:gs>
              <a:gs pos="100000">
                <a:srgbClr val="345FB6"/>
              </a:gs>
            </a:gsLst>
            <a:path path="circle">
              <a:fillToRect r="100000" b="100000"/>
            </a:path>
            <a:tileRect t="-100000" l="-100000"/>
          </a:gradFill>
          <a:ln/>
        </p:spPr>
      </p:sp>
      <p:sp>
        <p:nvSpPr>
          <p:cNvPr id="13" name="Text 5"/>
          <p:cNvSpPr/>
          <p:nvPr/>
        </p:nvSpPr>
        <p:spPr>
          <a:xfrm>
            <a:off x="5486400" y="1988185"/>
            <a:ext cx="469265" cy="46926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indent="0" marL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4" name="Text 6"/>
          <p:cNvSpPr/>
          <p:nvPr/>
        </p:nvSpPr>
        <p:spPr>
          <a:xfrm>
            <a:off x="5485130" y="2019300"/>
            <a:ext cx="513080" cy="43116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02</a:t>
            </a:r>
            <a:endParaRPr lang="en-US" sz="1600" dirty="0"/>
          </a:p>
        </p:txBody>
      </p:sp>
      <p:sp>
        <p:nvSpPr>
          <p:cNvPr id="15" name="Text 7"/>
          <p:cNvSpPr/>
          <p:nvPr/>
        </p:nvSpPr>
        <p:spPr>
          <a:xfrm>
            <a:off x="5955665" y="2038985"/>
            <a:ext cx="4092575" cy="4800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技术实现</a:t>
            </a:r>
            <a:endParaRPr lang="en-US" sz="1600" dirty="0"/>
          </a:p>
        </p:txBody>
      </p:sp>
      <p:sp>
        <p:nvSpPr>
          <p:cNvPr id="16" name="Text 8"/>
          <p:cNvSpPr/>
          <p:nvPr/>
        </p:nvSpPr>
        <p:spPr>
          <a:xfrm>
            <a:off x="6294755" y="3228340"/>
            <a:ext cx="3766185" cy="45910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创新之处</a:t>
            </a:r>
            <a:endParaRPr lang="en-US" sz="1600" dirty="0"/>
          </a:p>
        </p:txBody>
      </p:sp>
      <p:sp>
        <p:nvSpPr>
          <p:cNvPr id="17" name="Shape 9"/>
          <p:cNvSpPr/>
          <p:nvPr/>
        </p:nvSpPr>
        <p:spPr>
          <a:xfrm>
            <a:off x="5825490" y="3191510"/>
            <a:ext cx="469265" cy="469265"/>
          </a:xfrm>
          <a:prstGeom prst="ellipse">
            <a:avLst/>
          </a:prstGeom>
          <a:gradFill rotWithShape="1" flip="none">
            <a:gsLst>
              <a:gs pos="2000">
                <a:srgbClr val="D1DCF2">
                  <a:alpha val="83000"/>
                </a:srgbClr>
              </a:gs>
              <a:gs pos="55000">
                <a:srgbClr val="4874CB">
                  <a:alpha val="69000"/>
                </a:srgbClr>
              </a:gs>
              <a:gs pos="100000">
                <a:srgbClr val="345FB6"/>
              </a:gs>
            </a:gsLst>
            <a:path path="circle">
              <a:fillToRect r="100000" b="100000"/>
            </a:path>
            <a:tileRect t="-100000" l="-100000"/>
          </a:gradFill>
          <a:ln/>
        </p:spPr>
      </p:sp>
      <p:sp>
        <p:nvSpPr>
          <p:cNvPr id="18" name="Text 10"/>
          <p:cNvSpPr/>
          <p:nvPr/>
        </p:nvSpPr>
        <p:spPr>
          <a:xfrm>
            <a:off x="5825490" y="3191510"/>
            <a:ext cx="469265" cy="46926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indent="0" marL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9" name="Text 11"/>
          <p:cNvSpPr/>
          <p:nvPr/>
        </p:nvSpPr>
        <p:spPr>
          <a:xfrm>
            <a:off x="5824220" y="3222625"/>
            <a:ext cx="513080" cy="43116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03</a:t>
            </a:r>
            <a:endParaRPr lang="en-US" sz="1600" dirty="0"/>
          </a:p>
        </p:txBody>
      </p:sp>
      <p:sp>
        <p:nvSpPr>
          <p:cNvPr id="20" name="Text 12"/>
          <p:cNvSpPr/>
          <p:nvPr/>
        </p:nvSpPr>
        <p:spPr>
          <a:xfrm>
            <a:off x="5940425" y="4417695"/>
            <a:ext cx="4092575" cy="52451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总结与展望</a:t>
            </a:r>
            <a:endParaRPr lang="en-US" sz="1600" dirty="0"/>
          </a:p>
        </p:txBody>
      </p:sp>
      <p:sp>
        <p:nvSpPr>
          <p:cNvPr id="21" name="Shape 13"/>
          <p:cNvSpPr/>
          <p:nvPr/>
        </p:nvSpPr>
        <p:spPr>
          <a:xfrm>
            <a:off x="5471160" y="4366895"/>
            <a:ext cx="469265" cy="469265"/>
          </a:xfrm>
          <a:prstGeom prst="ellipse">
            <a:avLst/>
          </a:prstGeom>
          <a:gradFill rotWithShape="1" flip="none">
            <a:gsLst>
              <a:gs pos="2000">
                <a:srgbClr val="D1DCF2">
                  <a:alpha val="83000"/>
                </a:srgbClr>
              </a:gs>
              <a:gs pos="55000">
                <a:srgbClr val="4874CB">
                  <a:alpha val="69000"/>
                </a:srgbClr>
              </a:gs>
              <a:gs pos="100000">
                <a:srgbClr val="345FB6"/>
              </a:gs>
            </a:gsLst>
            <a:path path="circle">
              <a:fillToRect r="100000" b="100000"/>
            </a:path>
            <a:tileRect t="-100000" l="-100000"/>
          </a:gradFill>
          <a:ln/>
        </p:spPr>
      </p:sp>
      <p:sp>
        <p:nvSpPr>
          <p:cNvPr id="22" name="Text 14"/>
          <p:cNvSpPr/>
          <p:nvPr/>
        </p:nvSpPr>
        <p:spPr>
          <a:xfrm>
            <a:off x="5471160" y="4366895"/>
            <a:ext cx="469265" cy="46926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indent="0" marL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23" name="Text 15"/>
          <p:cNvSpPr/>
          <p:nvPr/>
        </p:nvSpPr>
        <p:spPr>
          <a:xfrm>
            <a:off x="5490845" y="4404995"/>
            <a:ext cx="513080" cy="43116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04</a:t>
            </a:r>
            <a:endParaRPr lang="en-US" sz="1600" dirty="0"/>
          </a:p>
        </p:txBody>
      </p:sp>
      <p:sp>
        <p:nvSpPr>
          <p:cNvPr id="24" name="Text 16"/>
          <p:cNvSpPr/>
          <p:nvPr/>
        </p:nvSpPr>
        <p:spPr>
          <a:xfrm>
            <a:off x="1620520" y="2779395"/>
            <a:ext cx="2174240" cy="97599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6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目录</a:t>
            </a:r>
            <a:endParaRPr lang="en-US" sz="1600" dirty="0"/>
          </a:p>
        </p:txBody>
      </p:sp>
      <p:sp>
        <p:nvSpPr>
          <p:cNvPr id="25" name="Text 17"/>
          <p:cNvSpPr/>
          <p:nvPr/>
        </p:nvSpPr>
        <p:spPr>
          <a:xfrm>
            <a:off x="1548765" y="3736340"/>
            <a:ext cx="2359660" cy="46609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CONTENTS</a:t>
            </a:r>
            <a:endParaRPr lang="en-US" sz="1600" dirty="0"/>
          </a:p>
        </p:txBody>
      </p:sp>
      <p:pic>
        <p:nvPicPr>
          <p:cNvPr id="26" name="Image 6" descr="https://test-kimi-img.moonshot.cn/pub/slides/slides_tmpl/image/25-07-11-18:10:07-d1oe5vtcmrb5eq9iqa4g.png">    </p:cNvPr>
          <p:cNvPicPr>
            <a:picLocks noChangeAspect="1"/>
          </p:cNvPicPr>
          <p:nvPr/>
        </p:nvPicPr>
        <p:blipFill>
          <a:blip r:embed="rId8">
            <a:alphaModFix amt="37000"/>
          </a:blip>
          <a:srcRect l="0" r="321" t="226" b="228"/>
          <a:stretch/>
        </p:blipFill>
        <p:spPr>
          <a:xfrm>
            <a:off x="1031240" y="2090420"/>
            <a:ext cx="589280" cy="556895"/>
          </a:xfrm>
          <a:prstGeom prst="rect">
            <a:avLst/>
          </a:prstGeom>
        </p:spPr>
      </p:pic>
      <p:pic>
        <p:nvPicPr>
          <p:cNvPr id="27" name="Image 7" descr="https://test-kimi-img.moonshot.cn/pub/slides/slides_tmpl/image/25-07-11-18:10:08-d1oe605cmrb5eq9iqa90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899775" y="1148080"/>
            <a:ext cx="1115695" cy="5120640"/>
          </a:xfrm>
          <a:prstGeom prst="rect">
            <a:avLst/>
          </a:prstGeom>
        </p:spPr>
      </p:pic>
      <p:pic>
        <p:nvPicPr>
          <p:cNvPr id="28" name="Image 8" descr="https://test-kimi-img.moonshot.cn/pub/slides/slides_tmpl/image/25-07-11-18:10:08-d1oe605cmrb5eq9iqaa0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786505" y="1569085"/>
            <a:ext cx="304800" cy="250190"/>
          </a:xfrm>
          <a:prstGeom prst="rect">
            <a:avLst/>
          </a:prstGeom>
        </p:spPr>
      </p:pic>
      <p:pic>
        <p:nvPicPr>
          <p:cNvPr id="29" name="Image 9" descr="https://test-kimi-img.moonshot.cn/pub/slides/slides_tmpl/image/25-07-11-18:10:08-d1oe605cmrb5eq9iqaa0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6960000">
            <a:off x="1031240" y="5024120"/>
            <a:ext cx="397510" cy="326390"/>
          </a:xfrm>
          <a:prstGeom prst="rect">
            <a:avLst/>
          </a:prstGeom>
        </p:spPr>
      </p:pic>
      <p:pic>
        <p:nvPicPr>
          <p:cNvPr id="30" name="Image 10" descr="https://test-kimi-img.moonshot.cn/pub/slides/slides_tmpl/image/25-07-11-18:10:08-d1oe605cmrb5eq9iqaa0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899775" y="727075"/>
            <a:ext cx="513080" cy="421005"/>
          </a:xfrm>
          <a:prstGeom prst="rect">
            <a:avLst/>
          </a:prstGeom>
        </p:spPr>
      </p:pic>
      <p:sp>
        <p:nvSpPr>
          <p:cNvPr id="31" name="Shape 18"/>
          <p:cNvSpPr/>
          <p:nvPr/>
        </p:nvSpPr>
        <p:spPr>
          <a:xfrm>
            <a:off x="4888865" y="5660390"/>
            <a:ext cx="469265" cy="469265"/>
          </a:xfrm>
          <a:prstGeom prst="ellipse">
            <a:avLst/>
          </a:prstGeom>
          <a:gradFill rotWithShape="1" flip="none">
            <a:gsLst>
              <a:gs pos="2000">
                <a:srgbClr val="D1DCF2">
                  <a:alpha val="83000"/>
                </a:srgbClr>
              </a:gs>
              <a:gs pos="55000">
                <a:srgbClr val="4874CB">
                  <a:alpha val="69000"/>
                </a:srgbClr>
              </a:gs>
              <a:gs pos="100000">
                <a:srgbClr val="345FB6"/>
              </a:gs>
            </a:gsLst>
            <a:path path="circle">
              <a:fillToRect r="100000" b="100000"/>
            </a:path>
            <a:tileRect t="-100000" l="-100000"/>
          </a:gradFill>
          <a:ln/>
        </p:spPr>
      </p:sp>
      <p:sp>
        <p:nvSpPr>
          <p:cNvPr id="32" name="Text 19"/>
          <p:cNvSpPr/>
          <p:nvPr/>
        </p:nvSpPr>
        <p:spPr>
          <a:xfrm>
            <a:off x="4888865" y="5660390"/>
            <a:ext cx="469265" cy="46926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indent="0" marL="0">
              <a:lnSpc>
                <a:spcPct val="10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alphaModFix amt="10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90" y="-15875"/>
            <a:ext cx="10438130" cy="6880225"/>
          </a:xfrm>
          <a:prstGeom prst="rect">
            <a:avLst/>
          </a:prstGeom>
          <a:gradFill rotWithShape="1" flip="none">
            <a:gsLst>
              <a:gs pos="0">
                <a:srgbClr val="FFFFFF"/>
              </a:gs>
              <a:gs pos="100000">
                <a:srgbClr val="FFFFFF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3" name="Text 1"/>
          <p:cNvSpPr/>
          <p:nvPr/>
        </p:nvSpPr>
        <p:spPr>
          <a:xfrm>
            <a:off x="8890" y="-15875"/>
            <a:ext cx="10438130" cy="688022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indent="0" marL="0">
              <a:lnSpc>
                <a:spcPct val="100000"/>
              </a:lnSpc>
              <a:buNone/>
            </a:pPr>
            <a:endParaRPr lang="en-US" sz="1600" dirty="0"/>
          </a:p>
        </p:txBody>
      </p:sp>
      <p:pic>
        <p:nvPicPr>
          <p:cNvPr id="4" name="Image 0" descr="https://test-kimi-img.moonshot.cn/pub/slides/slides_tmpl/image/25-07-11-18:10:09-d1oe60dcmrb5eq9iqag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140" y="2388552"/>
            <a:ext cx="1600200" cy="1651000"/>
          </a:xfrm>
          <a:prstGeom prst="rect">
            <a:avLst/>
          </a:prstGeom>
        </p:spPr>
      </p:pic>
      <p:pic>
        <p:nvPicPr>
          <p:cNvPr id="5" name="Image 1" descr="https://test-kimi-img.moonshot.cn/pub/slides/slides_tmpl/image/25-07-11-18:10:09-d1oe60dcmrb5eq9iqagg.png">    </p:cNvPr>
          <p:cNvPicPr>
            <a:picLocks noChangeAspect="1"/>
          </p:cNvPicPr>
          <p:nvPr/>
        </p:nvPicPr>
        <p:blipFill>
          <a:blip r:embed="rId3"/>
          <a:srcRect l="56" r="0" t="92" b="92"/>
          <a:stretch/>
        </p:blipFill>
        <p:spPr>
          <a:xfrm>
            <a:off x="8890" y="0"/>
            <a:ext cx="6771640" cy="6858000"/>
          </a:xfrm>
          <a:prstGeom prst="rect">
            <a:avLst/>
          </a:prstGeom>
        </p:spPr>
      </p:pic>
      <p:pic>
        <p:nvPicPr>
          <p:cNvPr id="6" name="Image 2" descr="https://test-kimi-img.moonshot.cn/pub/slides/slides_tmpl/image/25-07-11-18:10:09-d1oe60dcmrb5eq9iqah0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4710" y="2689860"/>
            <a:ext cx="1859280" cy="1871345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2637790" y="2865755"/>
            <a:ext cx="8900160" cy="95186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000" b="1" dirty="0">
                <a:solidFill>
                  <a:srgbClr val="4874C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项目概述</a:t>
            </a:r>
            <a:endParaRPr lang="en-US" sz="1600" dirty="0"/>
          </a:p>
        </p:txBody>
      </p:sp>
      <p:sp>
        <p:nvSpPr>
          <p:cNvPr id="8" name="Shape 3"/>
          <p:cNvSpPr/>
          <p:nvPr/>
        </p:nvSpPr>
        <p:spPr>
          <a:xfrm>
            <a:off x="1187450" y="2612390"/>
            <a:ext cx="1508125" cy="1494155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9" name="Text 4"/>
          <p:cNvSpPr/>
          <p:nvPr/>
        </p:nvSpPr>
        <p:spPr>
          <a:xfrm>
            <a:off x="1187450" y="2612390"/>
            <a:ext cx="1508125" cy="1494155"/>
          </a:xfrm>
          <a:prstGeom prst="rect">
            <a:avLst/>
          </a:prstGeom>
          <a:noFill/>
          <a:ln/>
        </p:spPr>
        <p:txBody>
          <a:bodyPr wrap="square" lIns="46863" tIns="90043" rIns="90043" bIns="46863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45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01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alphaModFix amt="59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test-kimi-img.moonshot.cn/pub/slides/slides_tmpl/image/25-07-11-18:10:12-d1oe615cmrb5eq9iqar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965" y="208280"/>
            <a:ext cx="1073150" cy="55499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89940" y="394335"/>
            <a:ext cx="6780530" cy="62293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项目背景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6273165" y="1495425"/>
            <a:ext cx="5481955" cy="11811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just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随着数字经济的快速发展，人工智能与各行业的融合成为产业升级的重要方式。政府出台多项政策支持人工智能行业，以党的十九届五中全会关于发展数字经济的政策为导向，强调智慧零售是数字经济的重要组成部分，而大模型和机器人技术是推动行业转型升级的核心引擎。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6616700" y="763270"/>
            <a:ext cx="4406265" cy="461645"/>
          </a:xfrm>
          <a:prstGeom prst="roundRect">
            <a:avLst>
              <a:gd name="adj" fmla="val 27647"/>
            </a:avLst>
          </a:prstGeom>
          <a:gradFill rotWithShape="1" flip="none">
            <a:gsLst>
              <a:gs pos="0">
                <a:srgbClr val="6292D4">
                  <a:alpha val="63000"/>
                </a:srgbClr>
              </a:gs>
              <a:gs pos="91000">
                <a:srgbClr val="4874CB">
                  <a:alpha val="76000"/>
                </a:srgbClr>
              </a:gs>
            </a:gsLst>
            <a:lin ang="5400000" scaled="1"/>
          </a:gradFill>
          <a:ln/>
        </p:spPr>
      </p:sp>
      <p:sp>
        <p:nvSpPr>
          <p:cNvPr id="6" name="Text 3"/>
          <p:cNvSpPr/>
          <p:nvPr/>
        </p:nvSpPr>
        <p:spPr>
          <a:xfrm>
            <a:off x="6616700" y="763270"/>
            <a:ext cx="4406265" cy="4616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数字经济推动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273165" y="4767798"/>
            <a:ext cx="5450840" cy="11811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just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大模型技术的出现为机器人赋予了强大的数据处理和预测能力，使其能够在智慧零售领域显著提高顾客的购物体验。同时，超轻量仿人机械臂等先进技术的出现，为机器人的精准、高效操作提供了保障。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6273165" y="4149090"/>
            <a:ext cx="4406265" cy="461645"/>
          </a:xfrm>
          <a:prstGeom prst="roundRect">
            <a:avLst>
              <a:gd name="adj" fmla="val 30674"/>
            </a:avLst>
          </a:prstGeom>
          <a:gradFill rotWithShape="1" flip="none">
            <a:gsLst>
              <a:gs pos="0">
                <a:srgbClr val="6292D4">
                  <a:alpha val="65000"/>
                </a:srgbClr>
              </a:gs>
              <a:gs pos="90000">
                <a:srgbClr val="4874CB">
                  <a:alpha val="74000"/>
                </a:srgbClr>
              </a:gs>
            </a:gsLst>
            <a:lin ang="5400000" scaled="1"/>
          </a:gradFill>
          <a:ln/>
        </p:spPr>
      </p:sp>
      <p:sp>
        <p:nvSpPr>
          <p:cNvPr id="9" name="Text 6"/>
          <p:cNvSpPr/>
          <p:nvPr/>
        </p:nvSpPr>
        <p:spPr>
          <a:xfrm>
            <a:off x="6273165" y="4149090"/>
            <a:ext cx="4406265" cy="4616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技术融合趋势</a:t>
            </a:r>
            <a:endParaRPr lang="en-US" sz="1600" dirty="0"/>
          </a:p>
        </p:txBody>
      </p:sp>
      <p:pic>
        <p:nvPicPr>
          <p:cNvPr id="10" name="Image 1" descr="https://test-kimi-img.moonshot.cn/pub/slides/slides_tmpl/image/25-07-11-18:10:08-d1oe605cmrb5eq9iqac0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22965" y="394335"/>
            <a:ext cx="628015" cy="182880"/>
          </a:xfrm>
          <a:prstGeom prst="rect">
            <a:avLst/>
          </a:prstGeom>
        </p:spPr>
      </p:pic>
      <p:pic>
        <p:nvPicPr>
          <p:cNvPr id="11" name="Image 2" descr="https://test-kimi-img.moonshot.cn/pub/slides/slides_tmpl/image/25-07-11-18:10:12-d1oe615cmrb5eq9iqaug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55120" y="6363970"/>
            <a:ext cx="676910" cy="676910"/>
          </a:xfrm>
          <a:prstGeom prst="rect">
            <a:avLst/>
          </a:prstGeom>
        </p:spPr>
      </p:pic>
      <p:pic>
        <p:nvPicPr>
          <p:cNvPr id="12" name="Image 3" descr="https://test-kimi-img.moonshot.cn/pub/slides/slides_tmpl/image/25-07-11-18:10:12-d1oe615cmrb5eq9iqav0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77485" y="1622425"/>
            <a:ext cx="895985" cy="463550"/>
          </a:xfrm>
          <a:prstGeom prst="rect">
            <a:avLst/>
          </a:prstGeom>
        </p:spPr>
      </p:pic>
      <p:pic>
        <p:nvPicPr>
          <p:cNvPr id="13" name="Image 4" descr="https://test-kimi-img.moonshot.cn/pub/slides/slides_tmpl/image/25-07-11-18:10:12-d1oe615cmrb5eq9iqav0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77485" y="3866515"/>
            <a:ext cx="895985" cy="463550"/>
          </a:xfrm>
          <a:prstGeom prst="rect">
            <a:avLst/>
          </a:prstGeom>
        </p:spPr>
      </p:pic>
      <p:pic>
        <p:nvPicPr>
          <p:cNvPr id="14" name="Image 5" descr="https://test-kimi-img.moonshot.cn/pub/slides/slides_tmpl/image/25-07-11-18:10:15-d1oe61tcmrb5eq9iqb60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57275" y="1089025"/>
            <a:ext cx="3475355" cy="543623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gradFill rotWithShape="0" flip="none">
          <a:gsLst>
            <a:gs pos="0">
              <a:srgbClr val="F6F8FD"/>
            </a:gs>
            <a:gs pos="48000">
              <a:srgbClr val="ACC1E8">
                <a:alpha val="25000"/>
              </a:srgbClr>
            </a:gs>
            <a:gs pos="83000">
              <a:srgbClr val="ACC1E8"/>
            </a:gs>
            <a:gs pos="100000">
              <a:srgbClr val="C8D5EF"/>
            </a:gs>
          </a:gsLst>
          <a:lin ang="8100000" scaled="1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test-kimi-img.moonshot.cn/pub/slides/slides_tmpl/image/25-07-11-18:10:20-d1oe635cmrb5eq9iqbog.jpeg">    </p:cNvPr>
          <p:cNvPicPr>
            <a:picLocks noChangeAspect="1"/>
          </p:cNvPicPr>
          <p:nvPr/>
        </p:nvPicPr>
        <p:blipFill>
          <a:blip r:embed="rId1">
            <a:alphaModFix amt="9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103598" y="1884449"/>
            <a:ext cx="6412026" cy="984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利用大模型技术和机器人技术，实现对顾客意图的精准识别和个性化商品推荐，提升顾客的购物体验。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5149296" y="1422100"/>
            <a:ext cx="5528761" cy="48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1E386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提升购物体验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5160877" y="3635688"/>
            <a:ext cx="6427076" cy="10125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自动化重复性任务，减少人力成本，提高执行效率，为零售商带来更高的运营效率和经济效益。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5191167" y="3173339"/>
            <a:ext cx="5539704" cy="48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1E386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提高运营效率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5191856" y="5319436"/>
            <a:ext cx="6395409" cy="10105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展示团队的技术实力，为行业带来创新，引领相关行业朝着更智能、更高效的方向发展。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5217327" y="4857087"/>
            <a:ext cx="5512856" cy="48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1E386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推动行业创新</a:t>
            </a:r>
            <a:endParaRPr lang="en-US" sz="1600" dirty="0"/>
          </a:p>
        </p:txBody>
      </p:sp>
      <p:pic>
        <p:nvPicPr>
          <p:cNvPr id="9" name="Image 1" descr="https://test-kimi-img.moonshot.cn/pub/slides/slides_tmpl/image/25-07-11-18:10:10-d1oe60lcmrb5eq9iqajg.png">    </p:cNvPr>
          <p:cNvPicPr>
            <a:picLocks noChangeAspect="1"/>
          </p:cNvPicPr>
          <p:nvPr/>
        </p:nvPicPr>
        <p:blipFill>
          <a:blip r:embed="rId2">
            <a:alphaModFix amt="36000"/>
          </a:blip>
          <a:stretch>
            <a:fillRect/>
          </a:stretch>
        </p:blipFill>
        <p:spPr>
          <a:xfrm rot="10980000">
            <a:off x="10433050" y="387985"/>
            <a:ext cx="1354455" cy="1354455"/>
          </a:xfrm>
          <a:prstGeom prst="rect">
            <a:avLst/>
          </a:prstGeom>
        </p:spPr>
      </p:pic>
      <p:pic>
        <p:nvPicPr>
          <p:cNvPr id="10" name="Image 2" descr="https://test-kimi-img.moonshot.cn/pub/slides/slides_tmpl/image/25-07-11-18:10:10-d1oe60lcmrb5eq9iqajg.png">    </p:cNvPr>
          <p:cNvPicPr>
            <a:picLocks noChangeAspect="1"/>
          </p:cNvPicPr>
          <p:nvPr/>
        </p:nvPicPr>
        <p:blipFill>
          <a:blip r:embed="rId3">
            <a:alphaModFix amt="36000"/>
          </a:blip>
          <a:stretch>
            <a:fillRect/>
          </a:stretch>
        </p:blipFill>
        <p:spPr>
          <a:xfrm rot="14580000">
            <a:off x="10433050" y="5316855"/>
            <a:ext cx="1354455" cy="1354455"/>
          </a:xfrm>
          <a:prstGeom prst="rect">
            <a:avLst/>
          </a:prstGeom>
        </p:spPr>
      </p:pic>
      <p:pic>
        <p:nvPicPr>
          <p:cNvPr id="11" name="Image 3" descr="https://test-kimi-img.moonshot.cn/pub/slides/slides_tmpl/image/25-07-11-18:10:20-d1oe635cmrb5eq9iqbng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61180" y="1823085"/>
            <a:ext cx="640080" cy="628015"/>
          </a:xfrm>
          <a:prstGeom prst="rect">
            <a:avLst/>
          </a:prstGeom>
        </p:spPr>
      </p:pic>
      <p:pic>
        <p:nvPicPr>
          <p:cNvPr id="12" name="Image 4" descr="https://test-kimi-img.moonshot.cn/pub/slides/slides_tmpl/image/25-07-11-18:10:20-d1oe635cmrb5eq9iqbp0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63720" y="3654425"/>
            <a:ext cx="646430" cy="628015"/>
          </a:xfrm>
          <a:prstGeom prst="rect">
            <a:avLst/>
          </a:prstGeom>
        </p:spPr>
      </p:pic>
      <p:pic>
        <p:nvPicPr>
          <p:cNvPr id="13" name="Image 5" descr="https://test-kimi-img.moonshot.cn/pub/slides/slides_tmpl/image/25-07-11-18:10:20-d1oe635cmrb5eq9iqbpg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61180" y="5337810"/>
            <a:ext cx="640080" cy="628015"/>
          </a:xfrm>
          <a:prstGeom prst="rect">
            <a:avLst/>
          </a:prstGeom>
        </p:spPr>
      </p:pic>
      <p:pic>
        <p:nvPicPr>
          <p:cNvPr id="14" name="Image 6" descr="https://test-kimi-img.moonshot.cn/pub/slides/slides_tmpl/image/25-07-11-18:10:20-d1oe635cmrb5eq9iqbq0.jpe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0"/>
            <a:ext cx="4213860" cy="6858000"/>
          </a:xfrm>
          <a:prstGeom prst="rect">
            <a:avLst/>
          </a:prstGeom>
        </p:spPr>
      </p:pic>
      <p:sp>
        <p:nvSpPr>
          <p:cNvPr id="15" name="Text 6"/>
          <p:cNvSpPr/>
          <p:nvPr/>
        </p:nvSpPr>
        <p:spPr>
          <a:xfrm>
            <a:off x="4583430" y="394335"/>
            <a:ext cx="6780530" cy="62293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1E386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项目目标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alphaModFix amt="10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90" y="-15875"/>
            <a:ext cx="10438130" cy="6880225"/>
          </a:xfrm>
          <a:prstGeom prst="rect">
            <a:avLst/>
          </a:prstGeom>
          <a:gradFill rotWithShape="1" flip="none">
            <a:gsLst>
              <a:gs pos="0">
                <a:srgbClr val="FFFFFF"/>
              </a:gs>
              <a:gs pos="100000">
                <a:srgbClr val="FFFFFF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3" name="Text 1"/>
          <p:cNvSpPr/>
          <p:nvPr/>
        </p:nvSpPr>
        <p:spPr>
          <a:xfrm>
            <a:off x="8890" y="-15875"/>
            <a:ext cx="10438130" cy="688022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indent="0" marL="0">
              <a:lnSpc>
                <a:spcPct val="100000"/>
              </a:lnSpc>
              <a:buNone/>
            </a:pPr>
            <a:endParaRPr lang="en-US" sz="1600" dirty="0"/>
          </a:p>
        </p:txBody>
      </p:sp>
      <p:pic>
        <p:nvPicPr>
          <p:cNvPr id="4" name="Image 0" descr="https://test-kimi-img.moonshot.cn/pub/slides/slides_tmpl/image/25-07-11-18:10:09-d1oe60dcmrb5eq9iqag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140" y="2388552"/>
            <a:ext cx="1600200" cy="1651000"/>
          </a:xfrm>
          <a:prstGeom prst="rect">
            <a:avLst/>
          </a:prstGeom>
        </p:spPr>
      </p:pic>
      <p:pic>
        <p:nvPicPr>
          <p:cNvPr id="5" name="Image 1" descr="https://test-kimi-img.moonshot.cn/pub/slides/slides_tmpl/image/25-07-11-18:10:09-d1oe60dcmrb5eq9iqagg.png">    </p:cNvPr>
          <p:cNvPicPr>
            <a:picLocks noChangeAspect="1"/>
          </p:cNvPicPr>
          <p:nvPr/>
        </p:nvPicPr>
        <p:blipFill>
          <a:blip r:embed="rId3"/>
          <a:srcRect l="56" r="0" t="92" b="92"/>
          <a:stretch/>
        </p:blipFill>
        <p:spPr>
          <a:xfrm>
            <a:off x="8890" y="0"/>
            <a:ext cx="6771640" cy="6858000"/>
          </a:xfrm>
          <a:prstGeom prst="rect">
            <a:avLst/>
          </a:prstGeom>
        </p:spPr>
      </p:pic>
      <p:pic>
        <p:nvPicPr>
          <p:cNvPr id="6" name="Image 2" descr="https://test-kimi-img.moonshot.cn/pub/slides/slides_tmpl/image/25-07-11-18:10:09-d1oe60dcmrb5eq9iqah0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4710" y="2689860"/>
            <a:ext cx="1859280" cy="1871345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2637790" y="2865755"/>
            <a:ext cx="8900160" cy="95186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000" b="1" dirty="0">
                <a:solidFill>
                  <a:srgbClr val="4874C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整体设计</a:t>
            </a:r>
            <a:endParaRPr lang="en-US" sz="1600" dirty="0"/>
          </a:p>
        </p:txBody>
      </p:sp>
      <p:sp>
        <p:nvSpPr>
          <p:cNvPr id="8" name="Shape 3"/>
          <p:cNvSpPr/>
          <p:nvPr/>
        </p:nvSpPr>
        <p:spPr>
          <a:xfrm>
            <a:off x="1187450" y="2612390"/>
            <a:ext cx="1508125" cy="1494155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9" name="Text 4"/>
          <p:cNvSpPr/>
          <p:nvPr/>
        </p:nvSpPr>
        <p:spPr>
          <a:xfrm>
            <a:off x="1187450" y="2612390"/>
            <a:ext cx="1508125" cy="1494155"/>
          </a:xfrm>
          <a:prstGeom prst="rect">
            <a:avLst/>
          </a:prstGeom>
          <a:noFill/>
          <a:ln/>
        </p:spPr>
        <p:txBody>
          <a:bodyPr wrap="square" lIns="46863" tIns="90043" rIns="90043" bIns="46863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45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02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test-kimi-img.moonshot.cn/pub/slides/slides_tmpl/image/25-07-11-18:10:12-d1oe615cmrb5eq9iqas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16200000">
            <a:off x="12004675" y="4376420"/>
            <a:ext cx="367030" cy="3537585"/>
          </a:xfrm>
          <a:prstGeom prst="rect">
            <a:avLst/>
          </a:prstGeom>
        </p:spPr>
      </p:pic>
      <p:pic>
        <p:nvPicPr>
          <p:cNvPr id="3" name="Image 1" descr="https://test-kimi-img.moonshot.cn/pub/slides/slides_tmpl/image/25-07-11-18:10:12-d1oe615cmrb5eq9iqas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615633" y="3265488"/>
            <a:ext cx="652145" cy="6778625"/>
          </a:xfrm>
          <a:prstGeom prst="rect">
            <a:avLst/>
          </a:prstGeom>
        </p:spPr>
      </p:pic>
      <p:pic>
        <p:nvPicPr>
          <p:cNvPr id="4" name="Image 2" descr="https://test-kimi-img.moonshot.cn/pub/slides/slides_tmpl/image/25-07-11-18:10:12-d1oe615cmrb5eq9iqas0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11927205" y="4007485"/>
            <a:ext cx="521335" cy="5425440"/>
          </a:xfrm>
          <a:prstGeom prst="rect">
            <a:avLst/>
          </a:prstGeom>
        </p:spPr>
      </p:pic>
      <p:pic>
        <p:nvPicPr>
          <p:cNvPr id="5" name="Image 3" descr="https://test-kimi-img.moonshot.cn/pub/slides/slides_tmpl/image/25-07-11-18:10:18-d1oe62lcmrb5eq9iqbg0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03235" y="1713548"/>
            <a:ext cx="3511550" cy="4431665"/>
          </a:xfrm>
          <a:prstGeom prst="rect">
            <a:avLst/>
          </a:prstGeom>
        </p:spPr>
      </p:pic>
      <p:pic>
        <p:nvPicPr>
          <p:cNvPr id="6" name="Image 4" descr="https://test-kimi-img.moonshot.cn/pub/slides/slides_tmpl/image/25-07-11-18:10:18-d1oe62lcmrb5eq9iqbg0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74210" y="1663700"/>
            <a:ext cx="3511550" cy="4431665"/>
          </a:xfrm>
          <a:prstGeom prst="rect">
            <a:avLst/>
          </a:prstGeom>
        </p:spPr>
      </p:pic>
      <p:pic>
        <p:nvPicPr>
          <p:cNvPr id="7" name="Image 5" descr="https://test-kimi-img.moonshot.cn/pub/slides/slides_tmpl/image/25-07-11-18:10:18-d1oe62lcmrb5eq9iqbg0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6755" y="1663700"/>
            <a:ext cx="3511550" cy="4431665"/>
          </a:xfrm>
          <a:prstGeom prst="rect">
            <a:avLst/>
          </a:prstGeom>
        </p:spPr>
      </p:pic>
      <p:pic>
        <p:nvPicPr>
          <p:cNvPr id="8" name="Image 6" descr="https://test-kimi-img.moonshot.cn/pub/slides/slides_tmpl/image/25-07-11-18:10:09-d1oe60dcmrb5eq9iqafg.png">    </p:cNvPr>
          <p:cNvPicPr>
            <a:picLocks noChangeAspect="1"/>
          </p:cNvPicPr>
          <p:nvPr/>
        </p:nvPicPr>
        <p:blipFill>
          <a:blip r:embed="rId7">
            <a:alphaModFix amt="74000"/>
          </a:blip>
          <a:srcRect l="128" r="-128" t="26683" b="-4046"/>
          <a:stretch/>
        </p:blipFill>
        <p:spPr>
          <a:xfrm>
            <a:off x="5582285" y="0"/>
            <a:ext cx="6927215" cy="2076450"/>
          </a:xfrm>
          <a:prstGeom prst="rect">
            <a:avLst/>
          </a:prstGeom>
        </p:spPr>
      </p:pic>
      <p:sp>
        <p:nvSpPr>
          <p:cNvPr id="9" name="Text 0"/>
          <p:cNvSpPr/>
          <p:nvPr/>
        </p:nvSpPr>
        <p:spPr>
          <a:xfrm>
            <a:off x="789940" y="394335"/>
            <a:ext cx="6780530" cy="62293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硬件选型</a:t>
            </a:r>
            <a:endParaRPr lang="en-US" sz="1600" dirty="0"/>
          </a:p>
        </p:txBody>
      </p:sp>
      <p:sp>
        <p:nvSpPr>
          <p:cNvPr id="10" name="Text 1"/>
          <p:cNvSpPr/>
          <p:nvPr/>
        </p:nvSpPr>
        <p:spPr>
          <a:xfrm>
            <a:off x="941705" y="2134235"/>
            <a:ext cx="3060700" cy="70675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4874C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主控系统</a:t>
            </a:r>
            <a:endParaRPr lang="en-US" sz="1600" dirty="0"/>
          </a:p>
        </p:txBody>
      </p:sp>
      <p:sp>
        <p:nvSpPr>
          <p:cNvPr id="11" name="Text 2"/>
          <p:cNvSpPr/>
          <p:nvPr/>
        </p:nvSpPr>
        <p:spPr>
          <a:xfrm>
            <a:off x="4596130" y="2134235"/>
            <a:ext cx="3060700" cy="70675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4874C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机械臂</a:t>
            </a:r>
            <a:endParaRPr lang="en-US" sz="1600" dirty="0"/>
          </a:p>
        </p:txBody>
      </p:sp>
      <p:sp>
        <p:nvSpPr>
          <p:cNvPr id="12" name="Text 3"/>
          <p:cNvSpPr/>
          <p:nvPr/>
        </p:nvSpPr>
        <p:spPr>
          <a:xfrm>
            <a:off x="8312150" y="2134235"/>
            <a:ext cx="3060700" cy="70675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4874C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视觉传感器</a:t>
            </a:r>
            <a:endParaRPr lang="en-US" sz="1600" dirty="0"/>
          </a:p>
        </p:txBody>
      </p:sp>
      <p:sp>
        <p:nvSpPr>
          <p:cNvPr id="13" name="Text 4"/>
          <p:cNvSpPr/>
          <p:nvPr/>
        </p:nvSpPr>
        <p:spPr>
          <a:xfrm>
            <a:off x="789940" y="2702878"/>
            <a:ext cx="3060700" cy="235331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just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采用Nvidia Jetson Orin Nano模组，算力高达20 TOPS，搭载16个Tensor Core的512核NVIDIA Ampere GPU和6核Arm Cortex CPU，内存4GB，功率仅为7W-10W，性能强劲且高效。</a:t>
            </a:r>
            <a:endParaRPr lang="en-US" sz="1600" dirty="0"/>
          </a:p>
        </p:txBody>
      </p:sp>
      <p:sp>
        <p:nvSpPr>
          <p:cNvPr id="14" name="Text 5"/>
          <p:cNvSpPr/>
          <p:nvPr/>
        </p:nvSpPr>
        <p:spPr>
          <a:xfrm>
            <a:off x="4699635" y="2752725"/>
            <a:ext cx="3060700" cy="235331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just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选用超轻量仿人机械臂，具有5kg的负载能力和7.2kg的自重，一体化设计，无传统控制柜，结构紧凑，携带丰富接口，末端具备通用接口，支持灵活扩展。</a:t>
            </a:r>
            <a:endParaRPr lang="en-US" sz="1600" dirty="0"/>
          </a:p>
        </p:txBody>
      </p:sp>
      <p:sp>
        <p:nvSpPr>
          <p:cNvPr id="15" name="Text 6"/>
          <p:cNvSpPr/>
          <p:nvPr/>
        </p:nvSpPr>
        <p:spPr>
          <a:xfrm>
            <a:off x="8328660" y="2840990"/>
            <a:ext cx="3060700" cy="235331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just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选用Intel Realsense D435C深度相机，可直接通过USB3.0供电和数据通信，能同时获取深度图像与彩色图像，有效距离0.11m~10m，满足视觉感知环境需求。</a:t>
            </a:r>
            <a:endParaRPr lang="en-US" sz="1600" dirty="0"/>
          </a:p>
        </p:txBody>
      </p:sp>
      <p:pic>
        <p:nvPicPr>
          <p:cNvPr id="16" name="Image 7" descr="https://test-kimi-img.moonshot.cn/pub/slides/slides_tmpl/image/25-07-11-18:10:12-d1oe615cmrb5eq9iqarg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54965" y="208280"/>
            <a:ext cx="1073150" cy="554990"/>
          </a:xfrm>
          <a:prstGeom prst="rect">
            <a:avLst/>
          </a:prstGeom>
        </p:spPr>
      </p:pic>
      <p:pic>
        <p:nvPicPr>
          <p:cNvPr id="17" name="Image 8" descr="https://test-kimi-img.moonshot.cn/pub/slides/slides_tmpl/image/25-07-11-18:10:11-d1oe60tcmrb5eq9iqapg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11520000">
            <a:off x="10706735" y="-624205"/>
            <a:ext cx="1950720" cy="1950720"/>
          </a:xfrm>
          <a:prstGeom prst="rect">
            <a:avLst/>
          </a:prstGeom>
        </p:spPr>
      </p:pic>
      <p:pic>
        <p:nvPicPr>
          <p:cNvPr id="18" name="Image 9" descr="https://test-kimi-img.moonshot.cn/pub/slides/slides_tmpl/image/25-07-11-18:10:08-d1oe605cmrb5eq9iqac0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022965" y="394335"/>
            <a:ext cx="628015" cy="182880"/>
          </a:xfrm>
          <a:prstGeom prst="rect">
            <a:avLst/>
          </a:prstGeom>
        </p:spPr>
      </p:pic>
      <p:pic>
        <p:nvPicPr>
          <p:cNvPr id="19" name="Image 10" descr="https://test-kimi-img.moonshot.cn/pub/slides/slides_tmpl/image/25-07-11-18:10:18-d1oe62lcmrb5eq9iqbh0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044065" y="1318260"/>
            <a:ext cx="810895" cy="810895"/>
          </a:xfrm>
          <a:prstGeom prst="rect">
            <a:avLst/>
          </a:prstGeom>
        </p:spPr>
      </p:pic>
      <p:pic>
        <p:nvPicPr>
          <p:cNvPr id="20" name="Image 11" descr="https://test-kimi-img.moonshot.cn/pub/slides/slides_tmpl/image/25-07-11-18:10:19-d1oe62tcmrb5eq9iqbi0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839460" y="1333500"/>
            <a:ext cx="780415" cy="780415"/>
          </a:xfrm>
          <a:prstGeom prst="rect">
            <a:avLst/>
          </a:prstGeom>
        </p:spPr>
      </p:pic>
      <p:pic>
        <p:nvPicPr>
          <p:cNvPr id="21" name="Image 12" descr="https://test-kimi-img.moonshot.cn/pub/slides/slides_tmpl/image/25-07-11-18:10:19-d1oe62tcmrb5eq9iqbhg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620250" y="1333500"/>
            <a:ext cx="780415" cy="780415"/>
          </a:xfrm>
          <a:prstGeom prst="rect">
            <a:avLst/>
          </a:prstGeom>
        </p:spPr>
      </p:pic>
      <p:pic>
        <p:nvPicPr>
          <p:cNvPr id="22" name="Image 13" descr="https://test-kimi-img.moonshot.cn/pub/slides/slides_tmpl/image/25-07-11-18:10:19-d1oe62tcmrb5eq9iqbig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21355" y="5160645"/>
            <a:ext cx="883920" cy="859790"/>
          </a:xfrm>
          <a:prstGeom prst="rect">
            <a:avLst/>
          </a:prstGeom>
        </p:spPr>
      </p:pic>
      <p:pic>
        <p:nvPicPr>
          <p:cNvPr id="23" name="Image 14" descr="https://test-kimi-img.moonshot.cn/pub/slides/slides_tmpl/image/25-07-11-18:10:19-d1oe62tcmrb5eq9iqbj0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958330" y="5160645"/>
            <a:ext cx="926465" cy="859790"/>
          </a:xfrm>
          <a:prstGeom prst="rect">
            <a:avLst/>
          </a:prstGeom>
        </p:spPr>
      </p:pic>
      <p:pic>
        <p:nvPicPr>
          <p:cNvPr id="24" name="Image 15" descr="https://test-kimi-img.moonshot.cn/pub/slides/slides_tmpl/image/25-07-11-18:10:19-d1oe62tcmrb5eq9iqbjg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0643235" y="5160645"/>
            <a:ext cx="932815" cy="85979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alphaModFix amt="10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9940" y="394335"/>
            <a:ext cx="6780530" cy="62293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系统架构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880745" y="1678940"/>
            <a:ext cx="5013325" cy="4404360"/>
          </a:xfrm>
          <a:prstGeom prst="roundRect">
            <a:avLst>
              <a:gd name="adj" fmla="val 5907"/>
            </a:avLst>
          </a:prstGeom>
          <a:solidFill>
            <a:srgbClr val="000000">
              <a:alpha val="0"/>
            </a:srgbClr>
          </a:solidFill>
          <a:ln w="19050">
            <a:gradFill rotWithShape="1" flip="none">
              <a:gsLst>
                <a:gs pos="0">
                  <a:srgbClr val="4874CB"/>
                </a:gs>
                <a:gs pos="50000">
                  <a:srgbClr val="83A4E1"/>
                </a:gs>
                <a:gs pos="89000">
                  <a:srgbClr val="6A95D0"/>
                </a:gs>
              </a:gsLst>
              <a:lin ang="5400000" scaled="1"/>
            </a:gra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80745" y="1678940"/>
            <a:ext cx="5013325" cy="44043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indent="0" marL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258560" y="1678940"/>
            <a:ext cx="5013325" cy="4404360"/>
          </a:xfrm>
          <a:prstGeom prst="roundRect">
            <a:avLst>
              <a:gd name="adj" fmla="val 5907"/>
            </a:avLst>
          </a:prstGeom>
          <a:solidFill>
            <a:srgbClr val="000000">
              <a:alpha val="0"/>
            </a:srgbClr>
          </a:solidFill>
          <a:ln w="19050">
            <a:gradFill rotWithShape="1" flip="none">
              <a:gsLst>
                <a:gs pos="0">
                  <a:srgbClr val="4874CB"/>
                </a:gs>
                <a:gs pos="50000">
                  <a:srgbClr val="83A4E1"/>
                </a:gs>
                <a:gs pos="89000">
                  <a:srgbClr val="6A95D0"/>
                </a:gs>
              </a:gsLst>
              <a:lin ang="5400000" scaled="1"/>
            </a:gra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58560" y="1678940"/>
            <a:ext cx="5013325" cy="44043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indent="0" marL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390650" y="1471295"/>
            <a:ext cx="3994150" cy="461645"/>
          </a:xfrm>
          <a:prstGeom prst="roundRect">
            <a:avLst>
              <a:gd name="adj" fmla="val 27647"/>
            </a:avLst>
          </a:prstGeom>
          <a:gradFill rotWithShape="1" flip="none">
            <a:gsLst>
              <a:gs pos="0">
                <a:srgbClr val="7A9EDA">
                  <a:alpha val="85000"/>
                </a:srgbClr>
              </a:gs>
              <a:gs pos="91000">
                <a:srgbClr val="678DD3"/>
              </a:gs>
            </a:gsLst>
            <a:lin ang="5400000" scaled="1"/>
          </a:gradFill>
          <a:ln/>
        </p:spPr>
      </p:sp>
      <p:sp>
        <p:nvSpPr>
          <p:cNvPr id="8" name="Text 6"/>
          <p:cNvSpPr/>
          <p:nvPr/>
        </p:nvSpPr>
        <p:spPr>
          <a:xfrm>
            <a:off x="1390650" y="1471295"/>
            <a:ext cx="3994150" cy="4616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硬件架构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768465" y="1471295"/>
            <a:ext cx="3994150" cy="461645"/>
          </a:xfrm>
          <a:prstGeom prst="roundRect">
            <a:avLst>
              <a:gd name="adj" fmla="val 27647"/>
            </a:avLst>
          </a:prstGeom>
          <a:gradFill rotWithShape="1" flip="none">
            <a:gsLst>
              <a:gs pos="0">
                <a:srgbClr val="7A9EDA">
                  <a:alpha val="90000"/>
                </a:srgbClr>
              </a:gs>
              <a:gs pos="91000">
                <a:srgbClr val="678DD3"/>
              </a:gs>
            </a:gsLst>
            <a:lin ang="5400000" scaled="1"/>
          </a:gradFill>
          <a:ln/>
        </p:spPr>
      </p:sp>
      <p:sp>
        <p:nvSpPr>
          <p:cNvPr id="10" name="Text 8"/>
          <p:cNvSpPr/>
          <p:nvPr/>
        </p:nvSpPr>
        <p:spPr>
          <a:xfrm>
            <a:off x="6768465" y="1471295"/>
            <a:ext cx="3994150" cy="4616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软件架构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98550" y="4037330"/>
            <a:ext cx="4530725" cy="11811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just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系统硬件由主控、机械臂、夹爪、直线滑轨套件、视觉传感器和语音模块组成，各部分协同工作，实现机器人的整体功能。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76365" y="4037330"/>
            <a:ext cx="4533900" cy="11811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just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基于大模型技术，集成自然语言处理、视觉识别、数据分析等功能模块，实现机器人与用户的智能交互和自主决策。</a:t>
            </a:r>
            <a:endParaRPr lang="en-US" sz="1600" dirty="0"/>
          </a:p>
        </p:txBody>
      </p:sp>
      <p:pic>
        <p:nvPicPr>
          <p:cNvPr id="13" name="Image 0" descr="https://test-kimi-img.moonshot.cn/pub/slides/slides_tmpl/image/25-07-11-18:10:14-d1oe61lcmrb5eq9iqb2g.png">    </p:cNvPr>
          <p:cNvPicPr>
            <a:picLocks noChangeAspect="1"/>
          </p:cNvPicPr>
          <p:nvPr/>
        </p:nvPicPr>
        <p:blipFill>
          <a:blip r:embed="rId2">
            <a:alphaModFix amt="83000"/>
          </a:blip>
          <a:srcRect l="115" r="83" t="145" b="161"/>
          <a:stretch/>
        </p:blipFill>
        <p:spPr>
          <a:xfrm>
            <a:off x="9721215" y="4354688"/>
            <a:ext cx="3859530" cy="3912235"/>
          </a:xfrm>
          <a:prstGeom prst="rect">
            <a:avLst/>
          </a:prstGeom>
        </p:spPr>
      </p:pic>
      <p:pic>
        <p:nvPicPr>
          <p:cNvPr id="14" name="Image 1" descr="https://test-kimi-img.moonshot.cn/pub/slides/slides_tmpl/image/25-07-11-18:10:12-d1oe615cmrb5eq9iqar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4965" y="208280"/>
            <a:ext cx="1073150" cy="554990"/>
          </a:xfrm>
          <a:prstGeom prst="rect">
            <a:avLst/>
          </a:prstGeom>
        </p:spPr>
      </p:pic>
      <p:pic>
        <p:nvPicPr>
          <p:cNvPr id="15" name="Image 2" descr="https://test-kimi-img.moonshot.cn/pub/slides/slides_tmpl/image/25-07-11-18:10:08-d1oe605cmrb5eq9iqac0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22965" y="394335"/>
            <a:ext cx="628015" cy="182880"/>
          </a:xfrm>
          <a:prstGeom prst="rect">
            <a:avLst/>
          </a:prstGeom>
        </p:spPr>
      </p:pic>
      <p:pic>
        <p:nvPicPr>
          <p:cNvPr id="16" name="Image 3" descr="https://test-kimi-img.moonshot.cn/pub/slides/slides_tmpl/image/25-07-11-18:10:14-d1oe61lcmrb5eq9iqb3g.jpe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73835" y="2144395"/>
            <a:ext cx="3910965" cy="1749425"/>
          </a:xfrm>
          <a:prstGeom prst="rect">
            <a:avLst/>
          </a:prstGeom>
        </p:spPr>
      </p:pic>
      <p:pic>
        <p:nvPicPr>
          <p:cNvPr id="17" name="Image 4" descr="https://test-kimi-img.moonshot.cn/pub/slides/slides_tmpl/image/25-07-11-18:10:14-d1oe61lcmrb5eq9iqb40.jpe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68465" y="2144395"/>
            <a:ext cx="3911600" cy="174879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alphaModFix amt="10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90" y="-15875"/>
            <a:ext cx="10438130" cy="6880225"/>
          </a:xfrm>
          <a:prstGeom prst="rect">
            <a:avLst/>
          </a:prstGeom>
          <a:gradFill rotWithShape="1" flip="none">
            <a:gsLst>
              <a:gs pos="0">
                <a:srgbClr val="FFFFFF"/>
              </a:gs>
              <a:gs pos="100000">
                <a:srgbClr val="FFFFFF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3" name="Text 1"/>
          <p:cNvSpPr/>
          <p:nvPr/>
        </p:nvSpPr>
        <p:spPr>
          <a:xfrm>
            <a:off x="8890" y="-15875"/>
            <a:ext cx="10438130" cy="688022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indent="0" marL="0">
              <a:lnSpc>
                <a:spcPct val="100000"/>
              </a:lnSpc>
              <a:buNone/>
            </a:pPr>
            <a:endParaRPr lang="en-US" sz="1600" dirty="0"/>
          </a:p>
        </p:txBody>
      </p:sp>
      <p:pic>
        <p:nvPicPr>
          <p:cNvPr id="4" name="Image 0" descr="https://test-kimi-img.moonshot.cn/pub/slides/slides_tmpl/image/25-07-11-18:10:09-d1oe60dcmrb5eq9iqag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140" y="2388552"/>
            <a:ext cx="1600200" cy="1651000"/>
          </a:xfrm>
          <a:prstGeom prst="rect">
            <a:avLst/>
          </a:prstGeom>
        </p:spPr>
      </p:pic>
      <p:pic>
        <p:nvPicPr>
          <p:cNvPr id="5" name="Image 1" descr="https://test-kimi-img.moonshot.cn/pub/slides/slides_tmpl/image/25-07-11-18:10:09-d1oe60dcmrb5eq9iqagg.png">    </p:cNvPr>
          <p:cNvPicPr>
            <a:picLocks noChangeAspect="1"/>
          </p:cNvPicPr>
          <p:nvPr/>
        </p:nvPicPr>
        <p:blipFill>
          <a:blip r:embed="rId3"/>
          <a:srcRect l="56" r="0" t="92" b="92"/>
          <a:stretch/>
        </p:blipFill>
        <p:spPr>
          <a:xfrm>
            <a:off x="8890" y="0"/>
            <a:ext cx="6771640" cy="6858000"/>
          </a:xfrm>
          <a:prstGeom prst="rect">
            <a:avLst/>
          </a:prstGeom>
        </p:spPr>
      </p:pic>
      <p:pic>
        <p:nvPicPr>
          <p:cNvPr id="6" name="Image 2" descr="https://test-kimi-img.moonshot.cn/pub/slides/slides_tmpl/image/25-07-11-18:10:09-d1oe60dcmrb5eq9iqah0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4710" y="2689860"/>
            <a:ext cx="1859280" cy="1871345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2637790" y="2865755"/>
            <a:ext cx="8900160" cy="95186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000" b="1" dirty="0">
                <a:solidFill>
                  <a:srgbClr val="4874C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技术实现</a:t>
            </a:r>
            <a:endParaRPr lang="en-US" sz="1600" dirty="0"/>
          </a:p>
        </p:txBody>
      </p:sp>
      <p:sp>
        <p:nvSpPr>
          <p:cNvPr id="8" name="Shape 3"/>
          <p:cNvSpPr/>
          <p:nvPr/>
        </p:nvSpPr>
        <p:spPr>
          <a:xfrm>
            <a:off x="1187450" y="2612390"/>
            <a:ext cx="1508125" cy="1494155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9" name="Text 4"/>
          <p:cNvSpPr/>
          <p:nvPr/>
        </p:nvSpPr>
        <p:spPr>
          <a:xfrm>
            <a:off x="1187450" y="2612390"/>
            <a:ext cx="1508125" cy="1494155"/>
          </a:xfrm>
          <a:prstGeom prst="rect">
            <a:avLst/>
          </a:prstGeom>
          <a:noFill/>
          <a:ln/>
        </p:spPr>
        <p:txBody>
          <a:bodyPr wrap="square" lIns="46863" tIns="90043" rIns="90043" bIns="46863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45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03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alphaModFix amt="5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test-kimi-img.moonshot.cn/pub/slides/slides_tmpl/image/25-07-11-18:10:16-d1oe625cmrb5eq9iqb8g.jpeg">    </p:cNvPr>
          <p:cNvPicPr>
            <a:picLocks noChangeAspect="1"/>
          </p:cNvPicPr>
          <p:nvPr/>
        </p:nvPicPr>
        <p:blipFill>
          <a:blip r:embed="rId2"/>
          <a:srcRect l="0" r="0" t="170" b="200"/>
          <a:stretch/>
        </p:blipFill>
        <p:spPr>
          <a:xfrm>
            <a:off x="0" y="866775"/>
            <a:ext cx="12192000" cy="217741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76885" y="4243070"/>
            <a:ext cx="3335655" cy="1867535"/>
          </a:xfrm>
          <a:prstGeom prst="rect">
            <a:avLst/>
          </a:prstGeom>
          <a:noFill/>
          <a:ln/>
        </p:spPr>
        <p:txBody>
          <a:bodyPr wrap="square" lIns="0" tIns="0" rIns="0" bIns="46990" rtlCol="0" anchor="t"/>
          <a:lstStyle/>
          <a:p>
            <a:pPr algn="just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利用大模型的强大计算能力和视觉识别技术，对货架上商品进行高精度识别，确保商品被精确地辨识和分类。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4368165" y="4243070"/>
            <a:ext cx="3335655" cy="1867535"/>
          </a:xfrm>
          <a:prstGeom prst="rect">
            <a:avLst/>
          </a:prstGeom>
          <a:noFill/>
          <a:ln/>
        </p:spPr>
        <p:txBody>
          <a:bodyPr wrap="square" lIns="0" tIns="0" rIns="0" bIns="46990" rtlCol="0" anchor="t"/>
          <a:lstStyle/>
          <a:p>
            <a:pPr algn="just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通过调用train方法传入参数，执行整个训练过程，包括前向传播、损失计算、反向传播和参数更新，确保模型在不同环境下具有良好的识别效果。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8312150" y="4253230"/>
            <a:ext cx="3335655" cy="1867535"/>
          </a:xfrm>
          <a:prstGeom prst="rect">
            <a:avLst/>
          </a:prstGeom>
          <a:noFill/>
          <a:ln/>
        </p:spPr>
        <p:txBody>
          <a:bodyPr wrap="square" lIns="0" tIns="0" rIns="0" bIns="46990" rtlCol="0" anchor="t"/>
          <a:lstStyle/>
          <a:p>
            <a:pPr algn="just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在模型训练完成后，利用训练好的模型对实时图像进行预测，快速准确地识别商品信息，为后续操作提供依据。</a:t>
            </a:r>
            <a:endParaRPr lang="en-US" sz="1600" dirty="0"/>
          </a:p>
        </p:txBody>
      </p:sp>
      <p:pic>
        <p:nvPicPr>
          <p:cNvPr id="6" name="Image 1" descr="https://test-kimi-img.moonshot.cn/pub/slides/slides_tmpl/image/25-07-11-18:10:16-d1oe625cmrb5eq9iqb9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2338" y="4041458"/>
            <a:ext cx="2489200" cy="88900"/>
          </a:xfrm>
          <a:prstGeom prst="rect">
            <a:avLst/>
          </a:prstGeom>
        </p:spPr>
      </p:pic>
      <p:pic>
        <p:nvPicPr>
          <p:cNvPr id="7" name="Image 2" descr="https://test-kimi-img.moonshot.cn/pub/slides/slides_tmpl/image/25-07-11-18:10:16-d1oe625cmrb5eq9iqb9g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14190" y="4041458"/>
            <a:ext cx="2489200" cy="88900"/>
          </a:xfrm>
          <a:prstGeom prst="rect">
            <a:avLst/>
          </a:prstGeom>
        </p:spPr>
      </p:pic>
      <p:pic>
        <p:nvPicPr>
          <p:cNvPr id="8" name="Image 3" descr="https://test-kimi-img.moonshot.cn/pub/slides/slides_tmpl/image/25-07-11-18:10:16-d1oe625cmrb5eq9iqb9g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7603" y="4051618"/>
            <a:ext cx="2489200" cy="88900"/>
          </a:xfrm>
          <a:prstGeom prst="rect">
            <a:avLst/>
          </a:prstGeom>
        </p:spPr>
      </p:pic>
      <p:pic>
        <p:nvPicPr>
          <p:cNvPr id="9" name="Image 4" descr="https://test-kimi-img.moonshot.cn/pub/slides/slides_tmpl/image/25-07-11-18:10:16-d1oe625cmrb5eq9iqba0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98097" y="3631248"/>
            <a:ext cx="25400" cy="3060700"/>
          </a:xfrm>
          <a:prstGeom prst="rect">
            <a:avLst/>
          </a:prstGeom>
        </p:spPr>
      </p:pic>
      <p:pic>
        <p:nvPicPr>
          <p:cNvPr id="10" name="Image 5" descr="https://test-kimi-img.moonshot.cn/pub/slides/slides_tmpl/image/25-07-11-18:10:16-d1oe625cmrb5eq9iqba0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65599" y="3656648"/>
            <a:ext cx="25400" cy="3060700"/>
          </a:xfrm>
          <a:prstGeom prst="rect">
            <a:avLst/>
          </a:prstGeom>
        </p:spPr>
      </p:pic>
      <p:sp>
        <p:nvSpPr>
          <p:cNvPr id="11" name="Shape 3"/>
          <p:cNvSpPr/>
          <p:nvPr/>
        </p:nvSpPr>
        <p:spPr>
          <a:xfrm>
            <a:off x="-635" y="635"/>
            <a:ext cx="12192635" cy="85471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Text 4"/>
          <p:cNvSpPr/>
          <p:nvPr/>
        </p:nvSpPr>
        <p:spPr>
          <a:xfrm>
            <a:off x="-635" y="635"/>
            <a:ext cx="12192635" cy="85471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indent="0" marL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3" name="Text 5"/>
          <p:cNvSpPr/>
          <p:nvPr/>
        </p:nvSpPr>
        <p:spPr>
          <a:xfrm>
            <a:off x="386080" y="194945"/>
            <a:ext cx="9518015" cy="62293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4874C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智慧视觉辨识</a:t>
            </a:r>
            <a:endParaRPr lang="en-US" sz="1600" dirty="0"/>
          </a:p>
        </p:txBody>
      </p:sp>
      <p:sp>
        <p:nvSpPr>
          <p:cNvPr id="14" name="Text 6"/>
          <p:cNvSpPr/>
          <p:nvPr/>
        </p:nvSpPr>
        <p:spPr>
          <a:xfrm>
            <a:off x="851535" y="3293745"/>
            <a:ext cx="2856865" cy="699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4874C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商品检测</a:t>
            </a:r>
            <a:endParaRPr lang="en-US" sz="1600" dirty="0"/>
          </a:p>
        </p:txBody>
      </p:sp>
      <p:sp>
        <p:nvSpPr>
          <p:cNvPr id="15" name="Text 7"/>
          <p:cNvSpPr/>
          <p:nvPr/>
        </p:nvSpPr>
        <p:spPr>
          <a:xfrm>
            <a:off x="4616450" y="3293745"/>
            <a:ext cx="2856865" cy="699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4874C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模型训练</a:t>
            </a:r>
            <a:endParaRPr lang="en-US" sz="1600" dirty="0"/>
          </a:p>
        </p:txBody>
      </p:sp>
      <p:sp>
        <p:nvSpPr>
          <p:cNvPr id="16" name="Text 8"/>
          <p:cNvSpPr/>
          <p:nvPr/>
        </p:nvSpPr>
        <p:spPr>
          <a:xfrm>
            <a:off x="8482965" y="3298825"/>
            <a:ext cx="2856865" cy="699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4874C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模型预测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alphaModFix amt="59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test-kimi-img.moonshot.cn/pub/slides/slides_tmpl/image/25-07-11-18:10:12-d1oe615cmrb5eq9iqb0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610" y="1443990"/>
            <a:ext cx="5711825" cy="4986655"/>
          </a:xfrm>
          <a:prstGeom prst="rect">
            <a:avLst/>
          </a:prstGeom>
        </p:spPr>
      </p:pic>
      <p:pic>
        <p:nvPicPr>
          <p:cNvPr id="3" name="Image 1" descr="https://test-kimi-img.moonshot.cn/pub/slides/slides_tmpl/image/25-07-11-18:10:12-d1oe615cmrb5eq9iqb00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9155" y="1443990"/>
            <a:ext cx="5711825" cy="4986655"/>
          </a:xfrm>
          <a:prstGeom prst="rect">
            <a:avLst/>
          </a:prstGeom>
        </p:spPr>
      </p:pic>
      <p:pic>
        <p:nvPicPr>
          <p:cNvPr id="4" name="Image 2" descr="https://test-kimi-img.moonshot.cn/pub/slides/slides_tmpl/image/25-07-11-18:10:13-d1oe61dcmrb5eq9iqb10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51090" y="5967095"/>
            <a:ext cx="2523490" cy="280670"/>
          </a:xfrm>
          <a:prstGeom prst="rect">
            <a:avLst/>
          </a:prstGeom>
        </p:spPr>
      </p:pic>
      <p:pic>
        <p:nvPicPr>
          <p:cNvPr id="5" name="Image 3" descr="https://test-kimi-img.moonshot.cn/pub/slides/slides_tmpl/image/25-07-11-18:10:12-d1oe615cmrb5eq9iqarg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4965" y="208280"/>
            <a:ext cx="1073150" cy="554990"/>
          </a:xfrm>
          <a:prstGeom prst="rect">
            <a:avLst/>
          </a:prstGeom>
        </p:spPr>
      </p:pic>
      <p:sp>
        <p:nvSpPr>
          <p:cNvPr id="6" name="Text 0"/>
          <p:cNvSpPr/>
          <p:nvPr/>
        </p:nvSpPr>
        <p:spPr>
          <a:xfrm>
            <a:off x="789940" y="394335"/>
            <a:ext cx="6780530" cy="62293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环境感知与物体跟踪</a:t>
            </a:r>
            <a:endParaRPr lang="en-US" sz="1600" dirty="0"/>
          </a:p>
        </p:txBody>
      </p:sp>
      <p:sp>
        <p:nvSpPr>
          <p:cNvPr id="7" name="Text 1"/>
          <p:cNvSpPr/>
          <p:nvPr/>
        </p:nvSpPr>
        <p:spPr>
          <a:xfrm>
            <a:off x="2139316" y="2087563"/>
            <a:ext cx="3339465" cy="892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4874C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实时检测</a:t>
            </a:r>
            <a:endParaRPr lang="en-US" sz="1600" dirty="0"/>
          </a:p>
        </p:txBody>
      </p:sp>
      <p:sp>
        <p:nvSpPr>
          <p:cNvPr id="8" name="Text 2"/>
          <p:cNvSpPr/>
          <p:nvPr/>
        </p:nvSpPr>
        <p:spPr>
          <a:xfrm>
            <a:off x="1192530" y="3080068"/>
            <a:ext cx="4284980" cy="2720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结合大模型与深度学习算法，实时检测货架上商品的位置和状态，为智能物流和库存管理提供实时数据支持。</a:t>
            </a:r>
            <a:endParaRPr lang="en-US" sz="1600" dirty="0"/>
          </a:p>
        </p:txBody>
      </p:sp>
      <p:sp>
        <p:nvSpPr>
          <p:cNvPr id="9" name="Text 3"/>
          <p:cNvSpPr/>
          <p:nvPr/>
        </p:nvSpPr>
        <p:spPr>
          <a:xfrm>
            <a:off x="6750686" y="3080068"/>
            <a:ext cx="4284980" cy="2720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通过视觉传感器和算法，对移动中的物体进行跟踪，确保机器人能够准确地获取目标物体的位置信息，实现精准操作。</a:t>
            </a:r>
            <a:endParaRPr lang="en-US" sz="1600" dirty="0"/>
          </a:p>
        </p:txBody>
      </p:sp>
      <p:pic>
        <p:nvPicPr>
          <p:cNvPr id="10" name="Image 4" descr="https://test-kimi-img.moonshot.cn/pub/slides/slides_tmpl/image/25-07-11-18:10:08-d1oe605cmrb5eq9iqac0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022965" y="394335"/>
            <a:ext cx="628015" cy="182880"/>
          </a:xfrm>
          <a:prstGeom prst="rect">
            <a:avLst/>
          </a:prstGeom>
        </p:spPr>
      </p:pic>
      <p:pic>
        <p:nvPicPr>
          <p:cNvPr id="11" name="Image 5" descr="https://test-kimi-img.moonshot.cn/pub/slides/slides_tmpl/image/25-07-11-18:10:13-d1oe61dcmrb5eq9iqb0g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2320" y="1379220"/>
            <a:ext cx="1292225" cy="1572895"/>
          </a:xfrm>
          <a:prstGeom prst="rect">
            <a:avLst/>
          </a:prstGeom>
        </p:spPr>
      </p:pic>
      <p:pic>
        <p:nvPicPr>
          <p:cNvPr id="12" name="Image 6" descr="https://test-kimi-img.moonshot.cn/pub/slides/slides_tmpl/image/25-07-11-18:10:13-d1oe61dcmrb5eq9iqb1g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41110" y="1369695"/>
            <a:ext cx="1292225" cy="1572895"/>
          </a:xfrm>
          <a:prstGeom prst="rect">
            <a:avLst/>
          </a:prstGeom>
        </p:spPr>
      </p:pic>
      <p:sp>
        <p:nvSpPr>
          <p:cNvPr id="13" name="Text 4"/>
          <p:cNvSpPr/>
          <p:nvPr/>
        </p:nvSpPr>
        <p:spPr>
          <a:xfrm>
            <a:off x="7570471" y="2087563"/>
            <a:ext cx="3339465" cy="892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4874C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物体跟踪</a:t>
            </a:r>
            <a:endParaRPr lang="en-US" sz="1600" dirty="0"/>
          </a:p>
        </p:txBody>
      </p:sp>
      <p:pic>
        <p:nvPicPr>
          <p:cNvPr id="14" name="Image 7" descr="https://test-kimi-img.moonshot.cn/pub/slides/slides_tmpl/image/25-07-11-18:10:13-d1oe61dcmrb5eq9iqb10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074545" y="5967095"/>
            <a:ext cx="2523490" cy="28067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alphaModFix amt="53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test-kimi-img.moonshot.cn/pub/slides/slides_tmpl/image/25-07-11-18:10:11-d1oe60tcmrb5eq9iqap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1520000">
            <a:off x="10706735" y="-624205"/>
            <a:ext cx="1950720" cy="1950720"/>
          </a:xfrm>
          <a:prstGeom prst="rect">
            <a:avLst/>
          </a:prstGeom>
        </p:spPr>
      </p:pic>
      <p:pic>
        <p:nvPicPr>
          <p:cNvPr id="3" name="Image 1" descr="https://test-kimi-img.moonshot.cn/pub/slides/slides_tmpl/image/25-07-11-18:10:11-d1oe60tcmrb5eq9iqap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720000">
            <a:off x="9276080" y="4420870"/>
            <a:ext cx="3163570" cy="3163570"/>
          </a:xfrm>
          <a:prstGeom prst="rect">
            <a:avLst/>
          </a:prstGeom>
        </p:spPr>
      </p:pic>
      <p:pic>
        <p:nvPicPr>
          <p:cNvPr id="4" name="Image 2" descr="https://test-kimi-img.moonshot.cn/pub/slides/slides_tmpl/image/25-07-11-18:10:15-d1oe61tcmrb5eq9iqb6g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1330" y="3677920"/>
            <a:ext cx="6632575" cy="2395855"/>
          </a:xfrm>
          <a:prstGeom prst="rect">
            <a:avLst/>
          </a:prstGeom>
        </p:spPr>
      </p:pic>
      <p:pic>
        <p:nvPicPr>
          <p:cNvPr id="5" name="Image 3" descr="https://test-kimi-img.moonshot.cn/pub/slides/slides_tmpl/image/25-07-11-18:10:15-d1oe61tcmrb5eq9iqb6g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1330" y="1282065"/>
            <a:ext cx="6632575" cy="2395855"/>
          </a:xfrm>
          <a:prstGeom prst="rect">
            <a:avLst/>
          </a:prstGeom>
        </p:spPr>
      </p:pic>
      <p:pic>
        <p:nvPicPr>
          <p:cNvPr id="6" name="Image 4" descr="https://test-kimi-img.moonshot.cn/pub/slides/slides_tmpl/image/25-07-11-18:10:12-d1oe615cmrb5eq9iqarg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4965" y="208280"/>
            <a:ext cx="1073150" cy="554990"/>
          </a:xfrm>
          <a:prstGeom prst="rect">
            <a:avLst/>
          </a:prstGeom>
        </p:spPr>
      </p:pic>
      <p:pic>
        <p:nvPicPr>
          <p:cNvPr id="7" name="Image 5" descr="https://test-kimi-img.moonshot.cn/pub/slides/slides_tmpl/image/25-07-11-18:10:08-d1oe605cmrb5eq9iqac0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022965" y="394335"/>
            <a:ext cx="628015" cy="182880"/>
          </a:xfrm>
          <a:prstGeom prst="rect">
            <a:avLst/>
          </a:prstGeom>
        </p:spPr>
      </p:pic>
      <p:pic>
        <p:nvPicPr>
          <p:cNvPr id="8" name="Image 6" descr="https://test-kimi-img.moonshot.cn/pub/slides/slides_tmpl/image/25-07-11-18:10:09-d1oe60dcmrb5eq9iqafg.png">    </p:cNvPr>
          <p:cNvPicPr>
            <a:picLocks noChangeAspect="1"/>
          </p:cNvPicPr>
          <p:nvPr/>
        </p:nvPicPr>
        <p:blipFill>
          <a:blip r:embed="rId8">
            <a:alphaModFix amt="74000"/>
          </a:blip>
          <a:srcRect l="0" r="0" t="15208" b="0"/>
          <a:stretch/>
        </p:blipFill>
        <p:spPr>
          <a:xfrm>
            <a:off x="5211445" y="0"/>
            <a:ext cx="7380605" cy="2425065"/>
          </a:xfrm>
          <a:prstGeom prst="rect">
            <a:avLst/>
          </a:prstGeom>
        </p:spPr>
      </p:pic>
      <p:sp>
        <p:nvSpPr>
          <p:cNvPr id="9" name="Text 0"/>
          <p:cNvSpPr/>
          <p:nvPr/>
        </p:nvSpPr>
        <p:spPr>
          <a:xfrm>
            <a:off x="789940" y="394335"/>
            <a:ext cx="6780530" cy="62293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互动式语音交互</a:t>
            </a:r>
            <a:endParaRPr lang="en-US" sz="1600" dirty="0"/>
          </a:p>
        </p:txBody>
      </p:sp>
      <p:sp>
        <p:nvSpPr>
          <p:cNvPr id="10" name="Text 1"/>
          <p:cNvSpPr/>
          <p:nvPr/>
        </p:nvSpPr>
        <p:spPr>
          <a:xfrm>
            <a:off x="803275" y="2079625"/>
            <a:ext cx="5988050" cy="11811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just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集成自然语言处理能力，通过麦克风阵列采集语音信号，利用语音识别技术将语音转换为文本，实现对用户语音指令的准确识别。</a:t>
            </a:r>
            <a:endParaRPr lang="en-US" sz="1600" dirty="0"/>
          </a:p>
        </p:txBody>
      </p:sp>
      <p:sp>
        <p:nvSpPr>
          <p:cNvPr id="11" name="Text 2"/>
          <p:cNvSpPr/>
          <p:nvPr/>
        </p:nvSpPr>
        <p:spPr>
          <a:xfrm>
            <a:off x="772795" y="4362450"/>
            <a:ext cx="5987415" cy="11811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just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根据语音识别的结果，通过语音合成技术将文本转换为语音，以自然且友好的方式与用户沟通，提供即时信息反馈和导购服务。</a:t>
            </a:r>
            <a:endParaRPr lang="en-US" sz="1600" dirty="0"/>
          </a:p>
        </p:txBody>
      </p:sp>
      <p:sp>
        <p:nvSpPr>
          <p:cNvPr id="12" name="Text 3"/>
          <p:cNvSpPr/>
          <p:nvPr/>
        </p:nvSpPr>
        <p:spPr>
          <a:xfrm>
            <a:off x="893445" y="1508125"/>
            <a:ext cx="4458335" cy="669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4874C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语音识别</a:t>
            </a:r>
            <a:endParaRPr lang="en-US" sz="1600" dirty="0"/>
          </a:p>
        </p:txBody>
      </p:sp>
      <p:sp>
        <p:nvSpPr>
          <p:cNvPr id="13" name="Text 4"/>
          <p:cNvSpPr/>
          <p:nvPr/>
        </p:nvSpPr>
        <p:spPr>
          <a:xfrm>
            <a:off x="2301875" y="3942715"/>
            <a:ext cx="4458335" cy="669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4874C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语音合成</a:t>
            </a:r>
            <a:endParaRPr lang="en-US" sz="1600" dirty="0"/>
          </a:p>
        </p:txBody>
      </p:sp>
      <p:pic>
        <p:nvPicPr>
          <p:cNvPr id="14" name="Image 7" descr="https://kimi-img.moonshot.cn/pub/slides/25-07-18-22:35:39-d1t5neuc8f2ehn74bpkg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89155" y="705803"/>
            <a:ext cx="2755900" cy="51943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alphaModFix amt="5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test-kimi-img.moonshot.cn/pub/slides/slides_tmpl/image/25-07-11-18:10:18-d1oe62lcmrb5eq9iqbgg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85" y="0"/>
            <a:ext cx="12177395" cy="6858000"/>
          </a:xfrm>
          <a:prstGeom prst="rect">
            <a:avLst/>
          </a:prstGeom>
        </p:spPr>
      </p:pic>
      <p:pic>
        <p:nvPicPr>
          <p:cNvPr id="3" name="Image 1" descr="https://test-kimi-img.moonshot.cn/pub/slides/slides_tmpl/image/25-07-11-18:10:12-d1oe615cmrb5eq9iqar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4965" y="208280"/>
            <a:ext cx="1073150" cy="554990"/>
          </a:xfrm>
          <a:prstGeom prst="rect">
            <a:avLst/>
          </a:prstGeom>
        </p:spPr>
      </p:pic>
      <p:pic>
        <p:nvPicPr>
          <p:cNvPr id="4" name="Image 2" descr="https://test-kimi-img.moonshot.cn/pub/slides/slides_tmpl/image/25-07-11-18:10:14-d1oe61lcmrb5eq9iqb2g.png">    </p:cNvPr>
          <p:cNvPicPr>
            <a:picLocks noChangeAspect="1"/>
          </p:cNvPicPr>
          <p:nvPr/>
        </p:nvPicPr>
        <p:blipFill>
          <a:blip r:embed="rId4">
            <a:alphaModFix amt="83000"/>
          </a:blip>
          <a:srcRect l="115" r="83" t="145" b="161"/>
          <a:stretch/>
        </p:blipFill>
        <p:spPr>
          <a:xfrm>
            <a:off x="4270944" y="1729740"/>
            <a:ext cx="3859530" cy="3912235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789940" y="394335"/>
            <a:ext cx="6780530" cy="62293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智能精准操控</a:t>
            </a:r>
            <a:endParaRPr lang="en-US" sz="1600" dirty="0"/>
          </a:p>
        </p:txBody>
      </p:sp>
      <p:sp>
        <p:nvSpPr>
          <p:cNvPr id="6" name="Text 1"/>
          <p:cNvSpPr/>
          <p:nvPr/>
        </p:nvSpPr>
        <p:spPr>
          <a:xfrm>
            <a:off x="685800" y="4833938"/>
            <a:ext cx="5101590" cy="1616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以大模型技术为支撑，智能机械臂能够自动精准地识别目标商品，并完成复杂的抓取与搬运任务，实现高精度操作。</a:t>
            </a:r>
            <a:endParaRPr lang="en-US" sz="1600" dirty="0"/>
          </a:p>
        </p:txBody>
      </p:sp>
      <p:sp>
        <p:nvSpPr>
          <p:cNvPr id="7" name="Text 2"/>
          <p:cNvSpPr/>
          <p:nvPr/>
        </p:nvSpPr>
        <p:spPr>
          <a:xfrm>
            <a:off x="685800" y="4097973"/>
            <a:ext cx="5101590" cy="7353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000" b="1" dirty="0">
                <a:gradFill rotWithShape="0" flip="none">
                  <a:gsLst>
                    <a:gs pos="0">
                      <a:srgbClr val="ACC1E8"/>
                    </a:gs>
                    <a:gs pos="31000">
                      <a:srgbClr val="849FDE"/>
                    </a:gs>
                    <a:gs pos="68000">
                      <a:srgbClr val="5A7DD4"/>
                    </a:gs>
                  </a:gsLst>
                  <a:lin ang="10800000" scaled="1"/>
                </a:gradFill>
                <a:latin typeface="MiSans" pitchFamily="34" charset="0"/>
                <a:ea typeface="MiSans" pitchFamily="34" charset="-122"/>
                <a:cs typeface="MiSans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3"/>
          <p:cNvSpPr/>
          <p:nvPr/>
        </p:nvSpPr>
        <p:spPr>
          <a:xfrm>
            <a:off x="6549390" y="2067878"/>
            <a:ext cx="5101590" cy="1617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通过精确控制夹爪的开合力度，确保物体在取送过程中不被损坏，提高操作的安全性和可靠性。</a:t>
            </a:r>
            <a:endParaRPr lang="en-US" sz="1600" dirty="0"/>
          </a:p>
        </p:txBody>
      </p:sp>
      <p:sp>
        <p:nvSpPr>
          <p:cNvPr id="9" name="Text 4"/>
          <p:cNvSpPr/>
          <p:nvPr/>
        </p:nvSpPr>
        <p:spPr>
          <a:xfrm>
            <a:off x="10871215" y="1301591"/>
            <a:ext cx="933445" cy="7353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000" b="1" dirty="0">
                <a:gradFill rotWithShape="0" flip="none">
                  <a:gsLst>
                    <a:gs pos="36000">
                      <a:srgbClr val="5A7DD4"/>
                    </a:gs>
                    <a:gs pos="99000">
                      <a:srgbClr val="ACC1E8"/>
                    </a:gs>
                  </a:gsLst>
                  <a:lin ang="10800000" scaled="1"/>
                </a:gradFill>
                <a:latin typeface="MiSans" pitchFamily="34" charset="0"/>
                <a:ea typeface="MiSans" pitchFamily="34" charset="-122"/>
                <a:cs typeface="MiSans" pitchFamily="34" charset="-120"/>
              </a:rPr>
              <a:t>02</a:t>
            </a:r>
            <a:endParaRPr lang="en-US" sz="1600" dirty="0"/>
          </a:p>
        </p:txBody>
      </p:sp>
      <p:sp>
        <p:nvSpPr>
          <p:cNvPr id="10" name="Text 5"/>
          <p:cNvSpPr/>
          <p:nvPr/>
        </p:nvSpPr>
        <p:spPr>
          <a:xfrm>
            <a:off x="5264150" y="1337945"/>
            <a:ext cx="5483225" cy="699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4874C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夹爪控制</a:t>
            </a:r>
            <a:endParaRPr lang="en-US" sz="1600" dirty="0"/>
          </a:p>
        </p:txBody>
      </p:sp>
      <p:sp>
        <p:nvSpPr>
          <p:cNvPr id="11" name="Text 6"/>
          <p:cNvSpPr/>
          <p:nvPr/>
        </p:nvSpPr>
        <p:spPr>
          <a:xfrm>
            <a:off x="1438910" y="4117975"/>
            <a:ext cx="5483225" cy="699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4874C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机械臂控制</a:t>
            </a:r>
            <a:endParaRPr lang="en-US" sz="1600" dirty="0"/>
          </a:p>
        </p:txBody>
      </p:sp>
      <p:pic>
        <p:nvPicPr>
          <p:cNvPr id="12" name="Image 3" descr="https://test-kimi-img.moonshot.cn/pub/slides/slides_tmpl/image/25-07-11-18:10:11-d1oe60tcmrb5eq9iqapg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1520000">
            <a:off x="10706735" y="-624205"/>
            <a:ext cx="1950720" cy="1950720"/>
          </a:xfrm>
          <a:prstGeom prst="rect">
            <a:avLst/>
          </a:prstGeom>
        </p:spPr>
      </p:pic>
      <p:pic>
        <p:nvPicPr>
          <p:cNvPr id="13" name="Image 4" descr="https://test-kimi-img.moonshot.cn/pub/slides/slides_tmpl/image/25-07-11-18:10:08-d1oe605cmrb5eq9iqac0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022965" y="394335"/>
            <a:ext cx="628015" cy="182880"/>
          </a:xfrm>
          <a:prstGeom prst="rect">
            <a:avLst/>
          </a:prstGeom>
        </p:spPr>
      </p:pic>
      <p:pic>
        <p:nvPicPr>
          <p:cNvPr id="14" name="Image 5" descr="https://kimi-img.moonshot.cn/pub/slides/25-07-18-22:37:00-d1t5o34432e5uv7qsi20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28115" y="1297623"/>
            <a:ext cx="3836035" cy="2596063"/>
          </a:xfrm>
          <a:prstGeom prst="rect">
            <a:avLst/>
          </a:prstGeom>
        </p:spPr>
      </p:pic>
      <p:pic>
        <p:nvPicPr>
          <p:cNvPr id="15" name="Image 6" descr="https://kimi-img.moonshot.cn/pub/slides/25-07-18-22:40:30-d1t5png1gemcmgpd80m0.jpg">    </p:cNvPr>
          <p:cNvPicPr>
            <a:picLocks noChangeAspect="1"/>
          </p:cNvPicPr>
          <p:nvPr/>
        </p:nvPicPr>
        <p:blipFill>
          <a:blip r:embed="rId8">
            <a:alphaModFix amt="89000"/>
          </a:blip>
          <a:stretch>
            <a:fillRect/>
          </a:stretch>
        </p:blipFill>
        <p:spPr>
          <a:xfrm>
            <a:off x="7803206" y="3429000"/>
            <a:ext cx="2593957" cy="3242446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alphaModFix amt="10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9940" y="394335"/>
            <a:ext cx="6780530" cy="62293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智能化结算分析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880745" y="1678940"/>
            <a:ext cx="5013325" cy="4404360"/>
          </a:xfrm>
          <a:prstGeom prst="roundRect">
            <a:avLst>
              <a:gd name="adj" fmla="val 5907"/>
            </a:avLst>
          </a:prstGeom>
          <a:solidFill>
            <a:srgbClr val="000000">
              <a:alpha val="0"/>
            </a:srgbClr>
          </a:solidFill>
          <a:ln w="19050">
            <a:gradFill rotWithShape="1" flip="none">
              <a:gsLst>
                <a:gs pos="0">
                  <a:srgbClr val="4874CB"/>
                </a:gs>
                <a:gs pos="50000">
                  <a:srgbClr val="83A4E1"/>
                </a:gs>
                <a:gs pos="89000">
                  <a:srgbClr val="6A95D0"/>
                </a:gs>
              </a:gsLst>
              <a:lin ang="5400000" scaled="1"/>
            </a:gra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80745" y="1678940"/>
            <a:ext cx="5013325" cy="44043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indent="0" marL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258560" y="1678940"/>
            <a:ext cx="5013325" cy="4404360"/>
          </a:xfrm>
          <a:prstGeom prst="roundRect">
            <a:avLst>
              <a:gd name="adj" fmla="val 5907"/>
            </a:avLst>
          </a:prstGeom>
          <a:solidFill>
            <a:srgbClr val="000000">
              <a:alpha val="0"/>
            </a:srgbClr>
          </a:solidFill>
          <a:ln w="19050">
            <a:gradFill rotWithShape="1" flip="none">
              <a:gsLst>
                <a:gs pos="0">
                  <a:srgbClr val="4874CB"/>
                </a:gs>
                <a:gs pos="50000">
                  <a:srgbClr val="83A4E1"/>
                </a:gs>
                <a:gs pos="89000">
                  <a:srgbClr val="6A95D0"/>
                </a:gs>
              </a:gsLst>
              <a:lin ang="5400000" scaled="1"/>
            </a:gra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58560" y="1678940"/>
            <a:ext cx="5013325" cy="44043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indent="0" marL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390650" y="1471295"/>
            <a:ext cx="3994150" cy="461645"/>
          </a:xfrm>
          <a:prstGeom prst="roundRect">
            <a:avLst>
              <a:gd name="adj" fmla="val 27647"/>
            </a:avLst>
          </a:prstGeom>
          <a:gradFill rotWithShape="1" flip="none">
            <a:gsLst>
              <a:gs pos="0">
                <a:srgbClr val="7A9EDA">
                  <a:alpha val="85000"/>
                </a:srgbClr>
              </a:gs>
              <a:gs pos="91000">
                <a:srgbClr val="678DD3"/>
              </a:gs>
            </a:gsLst>
            <a:lin ang="5400000" scaled="1"/>
          </a:gradFill>
          <a:ln w="12700">
            <a:solidFill>
              <a:srgbClr val="000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90650" y="1471295"/>
            <a:ext cx="3994150" cy="4616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商品识别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768465" y="1471295"/>
            <a:ext cx="3994150" cy="461645"/>
          </a:xfrm>
          <a:prstGeom prst="roundRect">
            <a:avLst>
              <a:gd name="adj" fmla="val 27647"/>
            </a:avLst>
          </a:prstGeom>
          <a:gradFill rotWithShape="1" flip="none">
            <a:gsLst>
              <a:gs pos="0">
                <a:srgbClr val="7A9EDA">
                  <a:alpha val="90000"/>
                </a:srgbClr>
              </a:gs>
              <a:gs pos="91000">
                <a:srgbClr val="678DD3"/>
              </a:gs>
            </a:gsLst>
            <a:lin ang="5400000" scaled="1"/>
          </a:gradFill>
          <a:ln/>
        </p:spPr>
      </p:sp>
      <p:sp>
        <p:nvSpPr>
          <p:cNvPr id="10" name="Text 8"/>
          <p:cNvSpPr/>
          <p:nvPr/>
        </p:nvSpPr>
        <p:spPr>
          <a:xfrm>
            <a:off x="6768465" y="1471295"/>
            <a:ext cx="3994150" cy="4616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数据分析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98550" y="4037330"/>
            <a:ext cx="4530725" cy="11811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just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集合大模型的数据分析和图像识别技术，快速完成结算区商品的自动识别和计价，提供一站式智能结算解决方案。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76365" y="4037330"/>
            <a:ext cx="4533900" cy="11811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just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对结算数据进行分析，生成销售报表和消费者洞察报告，帮助零售商优化商品组合和库存管理。</a:t>
            </a:r>
            <a:endParaRPr lang="en-US" sz="1600" dirty="0"/>
          </a:p>
        </p:txBody>
      </p:sp>
      <p:pic>
        <p:nvPicPr>
          <p:cNvPr id="13" name="Image 0" descr="https://test-kimi-img.moonshot.cn/pub/slides/slides_tmpl/image/25-07-11-18:10:14-d1oe61lcmrb5eq9iqb2g.png">    </p:cNvPr>
          <p:cNvPicPr>
            <a:picLocks noChangeAspect="1"/>
          </p:cNvPicPr>
          <p:nvPr/>
        </p:nvPicPr>
        <p:blipFill>
          <a:blip r:embed="rId2">
            <a:alphaModFix amt="83000"/>
          </a:blip>
          <a:srcRect l="115" r="83" t="145" b="161"/>
          <a:stretch/>
        </p:blipFill>
        <p:spPr>
          <a:xfrm>
            <a:off x="9862185" y="4380865"/>
            <a:ext cx="3859530" cy="3912235"/>
          </a:xfrm>
          <a:prstGeom prst="rect">
            <a:avLst/>
          </a:prstGeom>
        </p:spPr>
      </p:pic>
      <p:pic>
        <p:nvPicPr>
          <p:cNvPr id="14" name="Image 1" descr="https://test-kimi-img.moonshot.cn/pub/slides/slides_tmpl/image/25-07-11-18:10:12-d1oe615cmrb5eq9iqar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4965" y="208280"/>
            <a:ext cx="1073150" cy="554990"/>
          </a:xfrm>
          <a:prstGeom prst="rect">
            <a:avLst/>
          </a:prstGeom>
        </p:spPr>
      </p:pic>
      <p:pic>
        <p:nvPicPr>
          <p:cNvPr id="15" name="Image 2" descr="https://test-kimi-img.moonshot.cn/pub/slides/slides_tmpl/image/25-07-11-18:10:08-d1oe605cmrb5eq9iqac0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22965" y="394335"/>
            <a:ext cx="628015" cy="182880"/>
          </a:xfrm>
          <a:prstGeom prst="rect">
            <a:avLst/>
          </a:prstGeom>
        </p:spPr>
      </p:pic>
      <p:pic>
        <p:nvPicPr>
          <p:cNvPr id="16" name="Image 3" descr="https://test-kimi-img.moonshot.cn/pub/slides/slides_tmpl/image/25-07-11-18:10:14-d1oe61lcmrb5eq9iqb3g.jpe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73835" y="2144395"/>
            <a:ext cx="3910965" cy="1749425"/>
          </a:xfrm>
          <a:prstGeom prst="rect">
            <a:avLst/>
          </a:prstGeom>
        </p:spPr>
      </p:pic>
      <p:pic>
        <p:nvPicPr>
          <p:cNvPr id="17" name="Image 4" descr="https://test-kimi-img.moonshot.cn/pub/slides/slides_tmpl/image/25-07-11-18:10:14-d1oe61lcmrb5eq9iqb40.jpe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68465" y="2144395"/>
            <a:ext cx="3911600" cy="174879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alphaModFix amt="10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90" y="-15875"/>
            <a:ext cx="10438130" cy="6880225"/>
          </a:xfrm>
          <a:prstGeom prst="rect">
            <a:avLst/>
          </a:prstGeom>
          <a:gradFill rotWithShape="1" flip="none">
            <a:gsLst>
              <a:gs pos="0">
                <a:srgbClr val="FFFFFF"/>
              </a:gs>
              <a:gs pos="100000">
                <a:srgbClr val="FFFFFF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3" name="Text 1"/>
          <p:cNvSpPr/>
          <p:nvPr/>
        </p:nvSpPr>
        <p:spPr>
          <a:xfrm>
            <a:off x="8890" y="-15875"/>
            <a:ext cx="10438130" cy="688022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indent="0" marL="0">
              <a:lnSpc>
                <a:spcPct val="100000"/>
              </a:lnSpc>
              <a:buNone/>
            </a:pPr>
            <a:endParaRPr lang="en-US" sz="1600" dirty="0"/>
          </a:p>
        </p:txBody>
      </p:sp>
      <p:pic>
        <p:nvPicPr>
          <p:cNvPr id="4" name="Image 0" descr="https://test-kimi-img.moonshot.cn/pub/slides/slides_tmpl/image/25-07-11-18:10:09-d1oe60dcmrb5eq9iqag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140" y="2388552"/>
            <a:ext cx="1600200" cy="1651000"/>
          </a:xfrm>
          <a:prstGeom prst="rect">
            <a:avLst/>
          </a:prstGeom>
        </p:spPr>
      </p:pic>
      <p:pic>
        <p:nvPicPr>
          <p:cNvPr id="5" name="Image 1" descr="https://test-kimi-img.moonshot.cn/pub/slides/slides_tmpl/image/25-07-11-18:10:09-d1oe60dcmrb5eq9iqagg.png">    </p:cNvPr>
          <p:cNvPicPr>
            <a:picLocks noChangeAspect="1"/>
          </p:cNvPicPr>
          <p:nvPr/>
        </p:nvPicPr>
        <p:blipFill>
          <a:blip r:embed="rId3"/>
          <a:srcRect l="56" r="0" t="92" b="92"/>
          <a:stretch/>
        </p:blipFill>
        <p:spPr>
          <a:xfrm>
            <a:off x="8890" y="0"/>
            <a:ext cx="6771640" cy="6858000"/>
          </a:xfrm>
          <a:prstGeom prst="rect">
            <a:avLst/>
          </a:prstGeom>
        </p:spPr>
      </p:pic>
      <p:pic>
        <p:nvPicPr>
          <p:cNvPr id="6" name="Image 2" descr="https://test-kimi-img.moonshot.cn/pub/slides/slides_tmpl/image/25-07-11-18:10:09-d1oe60dcmrb5eq9iqah0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4710" y="2689860"/>
            <a:ext cx="1859280" cy="1871345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2637790" y="2865755"/>
            <a:ext cx="8900160" cy="95186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000" b="1" dirty="0">
                <a:solidFill>
                  <a:srgbClr val="4874C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创新之处</a:t>
            </a:r>
            <a:endParaRPr lang="en-US" sz="1600" dirty="0"/>
          </a:p>
        </p:txBody>
      </p:sp>
      <p:sp>
        <p:nvSpPr>
          <p:cNvPr id="8" name="Shape 3"/>
          <p:cNvSpPr/>
          <p:nvPr/>
        </p:nvSpPr>
        <p:spPr>
          <a:xfrm>
            <a:off x="1187450" y="2612390"/>
            <a:ext cx="1508125" cy="1494155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9" name="Text 4"/>
          <p:cNvSpPr/>
          <p:nvPr/>
        </p:nvSpPr>
        <p:spPr>
          <a:xfrm>
            <a:off x="1187450" y="2612390"/>
            <a:ext cx="1508125" cy="1494155"/>
          </a:xfrm>
          <a:prstGeom prst="rect">
            <a:avLst/>
          </a:prstGeom>
          <a:noFill/>
          <a:ln/>
        </p:spPr>
        <p:txBody>
          <a:bodyPr wrap="square" lIns="46863" tIns="90043" rIns="90043" bIns="46863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45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04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alphaModFix amt="59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test-kimi-img.moonshot.cn/pub/slides/slides_tmpl/image/25-07-11-18:10:12-d1oe615cmrb5eq9iqb0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610" y="1443990"/>
            <a:ext cx="5711825" cy="4986655"/>
          </a:xfrm>
          <a:prstGeom prst="rect">
            <a:avLst/>
          </a:prstGeom>
        </p:spPr>
      </p:pic>
      <p:pic>
        <p:nvPicPr>
          <p:cNvPr id="3" name="Image 1" descr="https://test-kimi-img.moonshot.cn/pub/slides/slides_tmpl/image/25-07-11-18:10:12-d1oe615cmrb5eq9iqb00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9155" y="1443990"/>
            <a:ext cx="5711825" cy="4986655"/>
          </a:xfrm>
          <a:prstGeom prst="rect">
            <a:avLst/>
          </a:prstGeom>
        </p:spPr>
      </p:pic>
      <p:pic>
        <p:nvPicPr>
          <p:cNvPr id="4" name="Image 2" descr="https://test-kimi-img.moonshot.cn/pub/slides/slides_tmpl/image/25-07-11-18:10:13-d1oe61dcmrb5eq9iqb10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51090" y="5967095"/>
            <a:ext cx="2523490" cy="280670"/>
          </a:xfrm>
          <a:prstGeom prst="rect">
            <a:avLst/>
          </a:prstGeom>
        </p:spPr>
      </p:pic>
      <p:pic>
        <p:nvPicPr>
          <p:cNvPr id="5" name="Image 3" descr="https://test-kimi-img.moonshot.cn/pub/slides/slides_tmpl/image/25-07-11-18:10:12-d1oe615cmrb5eq9iqarg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4965" y="208280"/>
            <a:ext cx="1073150" cy="554990"/>
          </a:xfrm>
          <a:prstGeom prst="rect">
            <a:avLst/>
          </a:prstGeom>
        </p:spPr>
      </p:pic>
      <p:sp>
        <p:nvSpPr>
          <p:cNvPr id="6" name="Text 0"/>
          <p:cNvSpPr/>
          <p:nvPr/>
        </p:nvSpPr>
        <p:spPr>
          <a:xfrm>
            <a:off x="789940" y="394335"/>
            <a:ext cx="6780530" cy="62293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无控制柜设计</a:t>
            </a:r>
            <a:endParaRPr lang="en-US" sz="1600" dirty="0"/>
          </a:p>
        </p:txBody>
      </p:sp>
      <p:sp>
        <p:nvSpPr>
          <p:cNvPr id="7" name="Text 1"/>
          <p:cNvSpPr/>
          <p:nvPr/>
        </p:nvSpPr>
        <p:spPr>
          <a:xfrm>
            <a:off x="2139316" y="2087563"/>
            <a:ext cx="3339465" cy="892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4874C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一体化融合</a:t>
            </a:r>
            <a:endParaRPr lang="en-US" sz="1600" dirty="0"/>
          </a:p>
        </p:txBody>
      </p:sp>
      <p:sp>
        <p:nvSpPr>
          <p:cNvPr id="8" name="Text 2"/>
          <p:cNvSpPr/>
          <p:nvPr/>
        </p:nvSpPr>
        <p:spPr>
          <a:xfrm>
            <a:off x="1192530" y="3080068"/>
            <a:ext cx="4284980" cy="2720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将控制器与机械臂完美融合，减少了传统控制柜的体积和重量，提高了系统的灵活性和便携性。</a:t>
            </a:r>
            <a:endParaRPr lang="en-US" sz="1600" dirty="0"/>
          </a:p>
        </p:txBody>
      </p:sp>
      <p:sp>
        <p:nvSpPr>
          <p:cNvPr id="9" name="Text 3"/>
          <p:cNvSpPr/>
          <p:nvPr/>
        </p:nvSpPr>
        <p:spPr>
          <a:xfrm>
            <a:off x="6750686" y="3080068"/>
            <a:ext cx="4284980" cy="2720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采用紧凑的结构设计，使机器人整体更加轻便灵活，便于在不同场景下进行部署和操作。</a:t>
            </a:r>
            <a:endParaRPr lang="en-US" sz="1600" dirty="0"/>
          </a:p>
        </p:txBody>
      </p:sp>
      <p:pic>
        <p:nvPicPr>
          <p:cNvPr id="10" name="Image 4" descr="https://test-kimi-img.moonshot.cn/pub/slides/slides_tmpl/image/25-07-11-18:10:08-d1oe605cmrb5eq9iqac0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022965" y="394335"/>
            <a:ext cx="628015" cy="182880"/>
          </a:xfrm>
          <a:prstGeom prst="rect">
            <a:avLst/>
          </a:prstGeom>
        </p:spPr>
      </p:pic>
      <p:pic>
        <p:nvPicPr>
          <p:cNvPr id="11" name="Image 5" descr="https://test-kimi-img.moonshot.cn/pub/slides/slides_tmpl/image/25-07-11-18:10:13-d1oe61dcmrb5eq9iqb0g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2320" y="1379220"/>
            <a:ext cx="1292225" cy="1572895"/>
          </a:xfrm>
          <a:prstGeom prst="rect">
            <a:avLst/>
          </a:prstGeom>
        </p:spPr>
      </p:pic>
      <p:pic>
        <p:nvPicPr>
          <p:cNvPr id="12" name="Image 6" descr="https://test-kimi-img.moonshot.cn/pub/slides/slides_tmpl/image/25-07-11-18:10:13-d1oe61dcmrb5eq9iqb1g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41110" y="1369695"/>
            <a:ext cx="1292225" cy="1572895"/>
          </a:xfrm>
          <a:prstGeom prst="rect">
            <a:avLst/>
          </a:prstGeom>
        </p:spPr>
      </p:pic>
      <p:sp>
        <p:nvSpPr>
          <p:cNvPr id="13" name="Text 4"/>
          <p:cNvSpPr/>
          <p:nvPr/>
        </p:nvSpPr>
        <p:spPr>
          <a:xfrm>
            <a:off x="7570471" y="2087563"/>
            <a:ext cx="3339465" cy="892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4874C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结构优化</a:t>
            </a:r>
            <a:endParaRPr lang="en-US" sz="1600" dirty="0"/>
          </a:p>
        </p:txBody>
      </p:sp>
      <p:pic>
        <p:nvPicPr>
          <p:cNvPr id="14" name="Image 7" descr="https://test-kimi-img.moonshot.cn/pub/slides/slides_tmpl/image/25-07-11-18:10:13-d1oe61dcmrb5eq9iqb10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074545" y="5967095"/>
            <a:ext cx="2523490" cy="28067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alphaModFix amt="10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9940" y="394335"/>
            <a:ext cx="6780530" cy="62293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丰富的API函数库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880745" y="1678940"/>
            <a:ext cx="5013325" cy="4404360"/>
          </a:xfrm>
          <a:prstGeom prst="roundRect">
            <a:avLst>
              <a:gd name="adj" fmla="val 5907"/>
            </a:avLst>
          </a:prstGeom>
          <a:solidFill>
            <a:srgbClr val="000000">
              <a:alpha val="0"/>
            </a:srgbClr>
          </a:solidFill>
          <a:ln w="19050">
            <a:gradFill rotWithShape="1" flip="none">
              <a:gsLst>
                <a:gs pos="0">
                  <a:srgbClr val="4874CB"/>
                </a:gs>
                <a:gs pos="50000">
                  <a:srgbClr val="83A4E1"/>
                </a:gs>
                <a:gs pos="89000">
                  <a:srgbClr val="6A95D0"/>
                </a:gs>
              </a:gsLst>
              <a:lin ang="5400000" scaled="1"/>
            </a:gra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80745" y="1678940"/>
            <a:ext cx="5013325" cy="44043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indent="0" marL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258560" y="1678940"/>
            <a:ext cx="5013325" cy="4404360"/>
          </a:xfrm>
          <a:prstGeom prst="roundRect">
            <a:avLst>
              <a:gd name="adj" fmla="val 5907"/>
            </a:avLst>
          </a:prstGeom>
          <a:solidFill>
            <a:srgbClr val="000000">
              <a:alpha val="0"/>
            </a:srgbClr>
          </a:solidFill>
          <a:ln w="19050">
            <a:gradFill rotWithShape="1" flip="none">
              <a:gsLst>
                <a:gs pos="0">
                  <a:srgbClr val="4874CB"/>
                </a:gs>
                <a:gs pos="50000">
                  <a:srgbClr val="83A4E1"/>
                </a:gs>
                <a:gs pos="89000">
                  <a:srgbClr val="6A95D0"/>
                </a:gs>
              </a:gsLst>
              <a:lin ang="5400000" scaled="1"/>
            </a:gra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58560" y="1678940"/>
            <a:ext cx="5013325" cy="44043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indent="0" marL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390650" y="1471295"/>
            <a:ext cx="3994150" cy="461645"/>
          </a:xfrm>
          <a:prstGeom prst="roundRect">
            <a:avLst>
              <a:gd name="adj" fmla="val 27647"/>
            </a:avLst>
          </a:prstGeom>
          <a:gradFill rotWithShape="1" flip="none">
            <a:gsLst>
              <a:gs pos="0">
                <a:srgbClr val="7A9EDA">
                  <a:alpha val="85000"/>
                </a:srgbClr>
              </a:gs>
              <a:gs pos="91000">
                <a:srgbClr val="678DD3"/>
              </a:gs>
            </a:gsLst>
            <a:lin ang="5400000" scaled="1"/>
          </a:gradFill>
          <a:ln/>
        </p:spPr>
      </p:sp>
      <p:sp>
        <p:nvSpPr>
          <p:cNvPr id="8" name="Text 6"/>
          <p:cNvSpPr/>
          <p:nvPr/>
        </p:nvSpPr>
        <p:spPr>
          <a:xfrm>
            <a:off x="1390650" y="1471295"/>
            <a:ext cx="3994150" cy="4616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二次开发支持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768465" y="1471295"/>
            <a:ext cx="3994150" cy="461645"/>
          </a:xfrm>
          <a:prstGeom prst="roundRect">
            <a:avLst>
              <a:gd name="adj" fmla="val 27647"/>
            </a:avLst>
          </a:prstGeom>
          <a:gradFill rotWithShape="1" flip="none">
            <a:gsLst>
              <a:gs pos="0">
                <a:srgbClr val="7A9EDA">
                  <a:alpha val="90000"/>
                </a:srgbClr>
              </a:gs>
              <a:gs pos="91000">
                <a:srgbClr val="678DD3"/>
              </a:gs>
            </a:gsLst>
            <a:lin ang="5400000" scaled="1"/>
          </a:gradFill>
          <a:ln/>
        </p:spPr>
      </p:sp>
      <p:sp>
        <p:nvSpPr>
          <p:cNvPr id="10" name="Text 8"/>
          <p:cNvSpPr/>
          <p:nvPr/>
        </p:nvSpPr>
        <p:spPr>
          <a:xfrm>
            <a:off x="6768465" y="1471295"/>
            <a:ext cx="3994150" cy="4616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多行业适配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98550" y="4037330"/>
            <a:ext cx="4530725" cy="11811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just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提供便于二次开发的API接口，支持多种应用需求扩展，具备高度的可扩展性和灵活性，为后续的功能升级和应用拓展提供了便利。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76365" y="4037330"/>
            <a:ext cx="4533900" cy="11811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just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满足多行业应用需求，不仅局限于零售行业，还能够适应物流、制造、服务等多个领域，具有广泛的应用前景。</a:t>
            </a:r>
            <a:endParaRPr lang="en-US" sz="1600" dirty="0"/>
          </a:p>
        </p:txBody>
      </p:sp>
      <p:pic>
        <p:nvPicPr>
          <p:cNvPr id="13" name="Image 0" descr="https://test-kimi-img.moonshot.cn/pub/slides/slides_tmpl/image/25-07-11-18:10:14-d1oe61lcmrb5eq9iqb2g.png">    </p:cNvPr>
          <p:cNvPicPr>
            <a:picLocks noChangeAspect="1"/>
          </p:cNvPicPr>
          <p:nvPr/>
        </p:nvPicPr>
        <p:blipFill>
          <a:blip r:embed="rId2">
            <a:alphaModFix amt="83000"/>
          </a:blip>
          <a:srcRect l="115" r="83" t="145" b="161"/>
          <a:stretch/>
        </p:blipFill>
        <p:spPr>
          <a:xfrm>
            <a:off x="9862185" y="4380865"/>
            <a:ext cx="3859530" cy="3912235"/>
          </a:xfrm>
          <a:prstGeom prst="rect">
            <a:avLst/>
          </a:prstGeom>
        </p:spPr>
      </p:pic>
      <p:pic>
        <p:nvPicPr>
          <p:cNvPr id="14" name="Image 1" descr="https://test-kimi-img.moonshot.cn/pub/slides/slides_tmpl/image/25-07-11-18:10:12-d1oe615cmrb5eq9iqar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4965" y="208280"/>
            <a:ext cx="1073150" cy="554990"/>
          </a:xfrm>
          <a:prstGeom prst="rect">
            <a:avLst/>
          </a:prstGeom>
        </p:spPr>
      </p:pic>
      <p:pic>
        <p:nvPicPr>
          <p:cNvPr id="15" name="Image 2" descr="https://test-kimi-img.moonshot.cn/pub/slides/slides_tmpl/image/25-07-11-18:10:08-d1oe605cmrb5eq9iqac0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22965" y="394335"/>
            <a:ext cx="628015" cy="182880"/>
          </a:xfrm>
          <a:prstGeom prst="rect">
            <a:avLst/>
          </a:prstGeom>
        </p:spPr>
      </p:pic>
      <p:pic>
        <p:nvPicPr>
          <p:cNvPr id="16" name="Image 3" descr="https://test-kimi-img.moonshot.cn/pub/slides/slides_tmpl/image/25-07-11-18:10:14-d1oe61lcmrb5eq9iqb3g.jpe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73835" y="2144395"/>
            <a:ext cx="3910965" cy="1749425"/>
          </a:xfrm>
          <a:prstGeom prst="rect">
            <a:avLst/>
          </a:prstGeom>
        </p:spPr>
      </p:pic>
      <p:pic>
        <p:nvPicPr>
          <p:cNvPr id="17" name="Image 4" descr="https://test-kimi-img.moonshot.cn/pub/slides/slides_tmpl/image/25-07-11-18:10:14-d1oe61lcmrb5eq9iqb40.jpe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68465" y="2144395"/>
            <a:ext cx="3911600" cy="174879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alphaModFix amt="10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90" y="-15875"/>
            <a:ext cx="10438130" cy="6880225"/>
          </a:xfrm>
          <a:prstGeom prst="rect">
            <a:avLst/>
          </a:prstGeom>
          <a:gradFill rotWithShape="1" flip="none">
            <a:gsLst>
              <a:gs pos="0">
                <a:srgbClr val="FFFFFF"/>
              </a:gs>
              <a:gs pos="100000">
                <a:srgbClr val="FFFFFF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3" name="Text 1"/>
          <p:cNvSpPr/>
          <p:nvPr/>
        </p:nvSpPr>
        <p:spPr>
          <a:xfrm>
            <a:off x="8890" y="-15875"/>
            <a:ext cx="10438130" cy="688022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indent="0" marL="0">
              <a:lnSpc>
                <a:spcPct val="100000"/>
              </a:lnSpc>
              <a:buNone/>
            </a:pPr>
            <a:endParaRPr lang="en-US" sz="1600" dirty="0"/>
          </a:p>
        </p:txBody>
      </p:sp>
      <p:pic>
        <p:nvPicPr>
          <p:cNvPr id="4" name="Image 0" descr="https://test-kimi-img.moonshot.cn/pub/slides/slides_tmpl/image/25-07-11-18:10:09-d1oe60dcmrb5eq9iqag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140" y="2388552"/>
            <a:ext cx="1600200" cy="1651000"/>
          </a:xfrm>
          <a:prstGeom prst="rect">
            <a:avLst/>
          </a:prstGeom>
        </p:spPr>
      </p:pic>
      <p:pic>
        <p:nvPicPr>
          <p:cNvPr id="5" name="Image 1" descr="https://test-kimi-img.moonshot.cn/pub/slides/slides_tmpl/image/25-07-11-18:10:09-d1oe60dcmrb5eq9iqagg.png">    </p:cNvPr>
          <p:cNvPicPr>
            <a:picLocks noChangeAspect="1"/>
          </p:cNvPicPr>
          <p:nvPr/>
        </p:nvPicPr>
        <p:blipFill>
          <a:blip r:embed="rId3"/>
          <a:srcRect l="56" r="0" t="92" b="92"/>
          <a:stretch/>
        </p:blipFill>
        <p:spPr>
          <a:xfrm>
            <a:off x="8890" y="0"/>
            <a:ext cx="6771640" cy="6858000"/>
          </a:xfrm>
          <a:prstGeom prst="rect">
            <a:avLst/>
          </a:prstGeom>
        </p:spPr>
      </p:pic>
      <p:pic>
        <p:nvPicPr>
          <p:cNvPr id="6" name="Image 2" descr="https://test-kimi-img.moonshot.cn/pub/slides/slides_tmpl/image/25-07-11-18:10:09-d1oe60dcmrb5eq9iqah0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4710" y="2689860"/>
            <a:ext cx="1859280" cy="1871345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2637790" y="2865755"/>
            <a:ext cx="8900160" cy="95186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000" b="1" dirty="0">
                <a:solidFill>
                  <a:srgbClr val="4874C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总结与展望</a:t>
            </a:r>
            <a:endParaRPr lang="en-US" sz="1600" dirty="0"/>
          </a:p>
        </p:txBody>
      </p:sp>
      <p:sp>
        <p:nvSpPr>
          <p:cNvPr id="8" name="Shape 3"/>
          <p:cNvSpPr/>
          <p:nvPr/>
        </p:nvSpPr>
        <p:spPr>
          <a:xfrm>
            <a:off x="1187450" y="2612390"/>
            <a:ext cx="1508125" cy="1494155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9" name="Text 4"/>
          <p:cNvSpPr/>
          <p:nvPr/>
        </p:nvSpPr>
        <p:spPr>
          <a:xfrm>
            <a:off x="1187450" y="2612390"/>
            <a:ext cx="1508125" cy="1494155"/>
          </a:xfrm>
          <a:prstGeom prst="rect">
            <a:avLst/>
          </a:prstGeom>
          <a:noFill/>
          <a:ln/>
        </p:spPr>
        <p:txBody>
          <a:bodyPr wrap="square" lIns="46863" tIns="90043" rIns="90043" bIns="46863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45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05</a:t>
            </a:r>
            <a:endParaRPr lang="en-US" sz="1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alphaModFix amt="5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6080" y="2262823"/>
            <a:ext cx="3335655" cy="1867535"/>
          </a:xfrm>
          <a:prstGeom prst="rect">
            <a:avLst/>
          </a:prstGeom>
          <a:noFill/>
          <a:ln/>
        </p:spPr>
        <p:txBody>
          <a:bodyPr wrap="square" lIns="0" tIns="0" rIns="0" bIns="46990" rtlCol="0" anchor="t"/>
          <a:lstStyle/>
          <a:p>
            <a:pPr algn="just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该款智慧零售机器人具备自动化控制功能，能够通过编程实现自动化操作和任务执行。多功能性是指可以执行多种任务，包括语音交互、视觉抓取等；灵活性是指平台结构设计灵活，可以在不同工作场景下自由移动和操作。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302722" y="3319463"/>
            <a:ext cx="3335655" cy="1867535"/>
          </a:xfrm>
          <a:prstGeom prst="rect">
            <a:avLst/>
          </a:prstGeom>
          <a:noFill/>
          <a:ln/>
        </p:spPr>
        <p:txBody>
          <a:bodyPr wrap="square" lIns="0" tIns="0" rIns="0" bIns="46990" rtlCol="0" anchor="t"/>
          <a:lstStyle/>
          <a:p>
            <a:pPr algn="just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基于大模型的智慧零售教育科研平台集成了人工智能技术，能够实现环境感知和自主决策，提升实验的智能化水平。并且对于前沿的人工智能技术具备良好的适配性。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312150" y="4253230"/>
            <a:ext cx="3335655" cy="1867535"/>
          </a:xfrm>
          <a:prstGeom prst="rect">
            <a:avLst/>
          </a:prstGeom>
          <a:noFill/>
          <a:ln/>
        </p:spPr>
        <p:txBody>
          <a:bodyPr wrap="square" lIns="0" tIns="0" rIns="0" bIns="46990" rtlCol="0" anchor="t"/>
          <a:lstStyle/>
          <a:p>
            <a:pPr algn="just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机器人能够自动完成从商品识别、抓取、搬运到结算的全过程，减少了人工干预，提高了工作效率和准确性。</a:t>
            </a:r>
            <a:endParaRPr lang="en-US" sz="1600" dirty="0"/>
          </a:p>
        </p:txBody>
      </p:sp>
      <p:pic>
        <p:nvPicPr>
          <p:cNvPr id="5" name="Image 0" descr="https://test-kimi-img.moonshot.cn/pub/slides/slides_tmpl/image/25-07-11-18:10:16-d1oe625cmrb5eq9iqb9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1264" y="1862164"/>
            <a:ext cx="2489200" cy="88900"/>
          </a:xfrm>
          <a:prstGeom prst="rect">
            <a:avLst/>
          </a:prstGeom>
        </p:spPr>
      </p:pic>
      <p:pic>
        <p:nvPicPr>
          <p:cNvPr id="6" name="Image 1" descr="https://test-kimi-img.moonshot.cn/pub/slides/slides_tmpl/image/25-07-11-18:10:16-d1oe625cmrb5eq9iqb9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5950" y="2804540"/>
            <a:ext cx="2489200" cy="88900"/>
          </a:xfrm>
          <a:prstGeom prst="rect">
            <a:avLst/>
          </a:prstGeom>
        </p:spPr>
      </p:pic>
      <p:pic>
        <p:nvPicPr>
          <p:cNvPr id="7" name="Image 2" descr="https://test-kimi-img.moonshot.cn/pub/slides/slides_tmpl/image/25-07-11-18:10:16-d1oe625cmrb5eq9iqb9g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59495" y="3631248"/>
            <a:ext cx="2489200" cy="88900"/>
          </a:xfrm>
          <a:prstGeom prst="rect">
            <a:avLst/>
          </a:prstGeom>
        </p:spPr>
      </p:pic>
      <p:pic>
        <p:nvPicPr>
          <p:cNvPr id="8" name="Image 3" descr="https://test-kimi-img.moonshot.cn/pub/slides/slides_tmpl/image/25-07-11-18:10:16-d1oe625cmrb5eq9iqba0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98097" y="3631248"/>
            <a:ext cx="25400" cy="3060700"/>
          </a:xfrm>
          <a:prstGeom prst="rect">
            <a:avLst/>
          </a:prstGeom>
        </p:spPr>
      </p:pic>
      <p:pic>
        <p:nvPicPr>
          <p:cNvPr id="9" name="Image 4" descr="https://test-kimi-img.moonshot.cn/pub/slides/slides_tmpl/image/25-07-11-18:10:16-d1oe625cmrb5eq9iqba0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65599" y="3656648"/>
            <a:ext cx="25400" cy="3060700"/>
          </a:xfrm>
          <a:prstGeom prst="rect">
            <a:avLst/>
          </a:prstGeom>
        </p:spPr>
      </p:pic>
      <p:sp>
        <p:nvSpPr>
          <p:cNvPr id="10" name="Shape 3"/>
          <p:cNvSpPr/>
          <p:nvPr/>
        </p:nvSpPr>
        <p:spPr>
          <a:xfrm>
            <a:off x="-635" y="635"/>
            <a:ext cx="12192635" cy="85471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Text 4"/>
          <p:cNvSpPr/>
          <p:nvPr/>
        </p:nvSpPr>
        <p:spPr>
          <a:xfrm>
            <a:off x="-635" y="635"/>
            <a:ext cx="12192635" cy="85471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indent="0" marL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2" name="Text 5"/>
          <p:cNvSpPr/>
          <p:nvPr/>
        </p:nvSpPr>
        <p:spPr>
          <a:xfrm>
            <a:off x="386080" y="194945"/>
            <a:ext cx="9518015" cy="62293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4874C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优势总结</a:t>
            </a:r>
            <a:endParaRPr lang="en-US" sz="1600" dirty="0"/>
          </a:p>
        </p:txBody>
      </p:sp>
      <p:sp>
        <p:nvSpPr>
          <p:cNvPr id="13" name="Text 6"/>
          <p:cNvSpPr/>
          <p:nvPr/>
        </p:nvSpPr>
        <p:spPr>
          <a:xfrm>
            <a:off x="386080" y="1251929"/>
            <a:ext cx="2856865" cy="699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4874C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多功能性与灵活性</a:t>
            </a:r>
            <a:endParaRPr lang="en-US" sz="1600" dirty="0"/>
          </a:p>
        </p:txBody>
      </p:sp>
      <p:sp>
        <p:nvSpPr>
          <p:cNvPr id="14" name="Text 7"/>
          <p:cNvSpPr/>
          <p:nvPr/>
        </p:nvSpPr>
        <p:spPr>
          <a:xfrm>
            <a:off x="4446525" y="2194305"/>
            <a:ext cx="2856865" cy="699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4874C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智能化技术支持</a:t>
            </a:r>
            <a:endParaRPr lang="en-US" sz="1600" dirty="0"/>
          </a:p>
        </p:txBody>
      </p:sp>
      <p:sp>
        <p:nvSpPr>
          <p:cNvPr id="15" name="Text 8"/>
          <p:cNvSpPr/>
          <p:nvPr/>
        </p:nvSpPr>
        <p:spPr>
          <a:xfrm>
            <a:off x="8312150" y="2969895"/>
            <a:ext cx="2856865" cy="699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4874C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自动化程度高</a:t>
            </a:r>
            <a:endParaRPr lang="en-US" sz="1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gradFill rotWithShape="0" flip="none">
          <a:gsLst>
            <a:gs pos="0">
              <a:srgbClr val="F6F8FD"/>
            </a:gs>
            <a:gs pos="48000">
              <a:srgbClr val="ACC1E8">
                <a:alpha val="25000"/>
              </a:srgbClr>
            </a:gs>
            <a:gs pos="83000">
              <a:srgbClr val="ACC1E8"/>
            </a:gs>
            <a:gs pos="100000">
              <a:srgbClr val="C8D5EF"/>
            </a:gs>
          </a:gsLst>
          <a:lin ang="8100000" scaled="1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test-kimi-img.moonshot.cn/pub/slides/slides_tmpl/image/25-07-11-18:10:20-d1oe635cmrb5eq9iqbog.jpeg">    </p:cNvPr>
          <p:cNvPicPr>
            <a:picLocks noChangeAspect="1"/>
          </p:cNvPicPr>
          <p:nvPr/>
        </p:nvPicPr>
        <p:blipFill>
          <a:blip r:embed="rId1">
            <a:alphaModFix amt="9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103598" y="1884449"/>
            <a:ext cx="6412026" cy="984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零售机器人的应用场景将不断拓宽，除了传统的商品识别、库存管理和顾客服务等领域外，还将逐步渗透到商品配送、智能导购、虚拟试衣等更多领域，为顾客提供更全面、便捷的服务。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5149296" y="1422100"/>
            <a:ext cx="5528761" cy="48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1E386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应用场景拓展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5160877" y="3635688"/>
            <a:ext cx="6427076" cy="10125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未来零售机器人将朝着智能化、个性化、多场景应用、技术创新、安全性与隐私保护以及绿色环保与可持续发展等方向不断发展。零售机器人将在新零售的浪潮中扮演越来越重要的角色。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5191167" y="3173339"/>
            <a:ext cx="5539704" cy="48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1E386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技术发展方向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5191856" y="5319436"/>
            <a:ext cx="6395409" cy="10105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该款机器人将为零售行业带来深远的影响，推动行业的智能化升级，提高行业的整体竞争力，为消费者创造更加美好的购物体验。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5217327" y="4857087"/>
            <a:ext cx="5512856" cy="48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1E386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行业影响</a:t>
            </a:r>
            <a:endParaRPr lang="en-US" sz="1600" dirty="0"/>
          </a:p>
        </p:txBody>
      </p:sp>
      <p:pic>
        <p:nvPicPr>
          <p:cNvPr id="9" name="Image 1" descr="https://test-kimi-img.moonshot.cn/pub/slides/slides_tmpl/image/25-07-11-18:10:10-d1oe60lcmrb5eq9iqajg.png">    </p:cNvPr>
          <p:cNvPicPr>
            <a:picLocks noChangeAspect="1"/>
          </p:cNvPicPr>
          <p:nvPr/>
        </p:nvPicPr>
        <p:blipFill>
          <a:blip r:embed="rId2">
            <a:alphaModFix amt="36000"/>
          </a:blip>
          <a:stretch>
            <a:fillRect/>
          </a:stretch>
        </p:blipFill>
        <p:spPr>
          <a:xfrm rot="10980000">
            <a:off x="10433050" y="387985"/>
            <a:ext cx="1354455" cy="1354455"/>
          </a:xfrm>
          <a:prstGeom prst="rect">
            <a:avLst/>
          </a:prstGeom>
        </p:spPr>
      </p:pic>
      <p:pic>
        <p:nvPicPr>
          <p:cNvPr id="10" name="Image 2" descr="https://test-kimi-img.moonshot.cn/pub/slides/slides_tmpl/image/25-07-11-18:10:10-d1oe60lcmrb5eq9iqajg.png">    </p:cNvPr>
          <p:cNvPicPr>
            <a:picLocks noChangeAspect="1"/>
          </p:cNvPicPr>
          <p:nvPr/>
        </p:nvPicPr>
        <p:blipFill>
          <a:blip r:embed="rId3">
            <a:alphaModFix amt="36000"/>
          </a:blip>
          <a:stretch>
            <a:fillRect/>
          </a:stretch>
        </p:blipFill>
        <p:spPr>
          <a:xfrm rot="14580000">
            <a:off x="10433050" y="5316855"/>
            <a:ext cx="1354455" cy="1354455"/>
          </a:xfrm>
          <a:prstGeom prst="rect">
            <a:avLst/>
          </a:prstGeom>
        </p:spPr>
      </p:pic>
      <p:pic>
        <p:nvPicPr>
          <p:cNvPr id="11" name="Image 3" descr="https://test-kimi-img.moonshot.cn/pub/slides/slides_tmpl/image/25-07-11-18:10:20-d1oe635cmrb5eq9iqbng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61180" y="1823085"/>
            <a:ext cx="640080" cy="628015"/>
          </a:xfrm>
          <a:prstGeom prst="rect">
            <a:avLst/>
          </a:prstGeom>
        </p:spPr>
      </p:pic>
      <p:pic>
        <p:nvPicPr>
          <p:cNvPr id="12" name="Image 4" descr="https://test-kimi-img.moonshot.cn/pub/slides/slides_tmpl/image/25-07-11-18:10:20-d1oe635cmrb5eq9iqbp0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63720" y="3654425"/>
            <a:ext cx="646430" cy="628015"/>
          </a:xfrm>
          <a:prstGeom prst="rect">
            <a:avLst/>
          </a:prstGeom>
        </p:spPr>
      </p:pic>
      <p:pic>
        <p:nvPicPr>
          <p:cNvPr id="13" name="Image 5" descr="https://test-kimi-img.moonshot.cn/pub/slides/slides_tmpl/image/25-07-11-18:10:20-d1oe635cmrb5eq9iqbpg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61180" y="5337810"/>
            <a:ext cx="640080" cy="628015"/>
          </a:xfrm>
          <a:prstGeom prst="rect">
            <a:avLst/>
          </a:prstGeom>
        </p:spPr>
      </p:pic>
      <p:pic>
        <p:nvPicPr>
          <p:cNvPr id="14" name="Image 6" descr="https://test-kimi-img.moonshot.cn/pub/slides/slides_tmpl/image/25-07-11-18:10:20-d1oe635cmrb5eq9iqbq0.jpe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0"/>
            <a:ext cx="4213860" cy="6858000"/>
          </a:xfrm>
          <a:prstGeom prst="rect">
            <a:avLst/>
          </a:prstGeom>
        </p:spPr>
      </p:pic>
      <p:sp>
        <p:nvSpPr>
          <p:cNvPr id="15" name="Text 6"/>
          <p:cNvSpPr/>
          <p:nvPr/>
        </p:nvSpPr>
        <p:spPr>
          <a:xfrm>
            <a:off x="4583430" y="394335"/>
            <a:ext cx="6780530" cy="62293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1E386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未来展望</a:t>
            </a:r>
            <a:endParaRPr lang="en-US" sz="16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alphaModFix amt="10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test-kimi-img.moonshot.cn/pub/slides/slides_tmpl/image/25-07-11-18:10:11-d1oe60tcmrb5eq9iqap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1520000">
            <a:off x="10471785" y="-925195"/>
            <a:ext cx="2444750" cy="2444750"/>
          </a:xfrm>
          <a:prstGeom prst="rect">
            <a:avLst/>
          </a:prstGeom>
        </p:spPr>
      </p:pic>
      <p:pic>
        <p:nvPicPr>
          <p:cNvPr id="3" name="Image 1" descr="https://test-kimi-img.moonshot.cn/pub/slides/slides_tmpl/image/25-07-11-18:10:24-d1oe645cmrb5eq9iqca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9327" y="2262968"/>
            <a:ext cx="4368800" cy="31496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878840" y="1196975"/>
            <a:ext cx="10705465" cy="65976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2025.07</a:t>
            </a:r>
            <a:endParaRPr lang="en-US" sz="1600" dirty="0"/>
          </a:p>
        </p:txBody>
      </p:sp>
      <p:sp>
        <p:nvSpPr>
          <p:cNvPr id="5" name="Shape 1"/>
          <p:cNvSpPr/>
          <p:nvPr/>
        </p:nvSpPr>
        <p:spPr>
          <a:xfrm flipH="1">
            <a:off x="4814570" y="3940175"/>
            <a:ext cx="6555740" cy="0"/>
          </a:xfrm>
          <a:prstGeom prst="line">
            <a:avLst/>
          </a:prstGeom>
          <a:noFill/>
          <a:ln w="38100">
            <a:solidFill>
              <a:srgbClr val="4874CB"/>
            </a:solidFill>
            <a:prstDash val="solid"/>
            <a:headEnd type="none"/>
            <a:tailEnd type="none"/>
          </a:ln>
        </p:spPr>
      </p:sp>
      <p:pic>
        <p:nvPicPr>
          <p:cNvPr id="6" name="Image 2" descr="https://test-kimi-img.moonshot.cn/pub/slides/slides_tmpl/image/25-07-11-18:10:07-d1oe5vtcmrb5eq9iqa50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10760" y="4203065"/>
            <a:ext cx="303530" cy="142875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4965065" y="1872615"/>
            <a:ext cx="6619240" cy="232600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6000" dirty="0">
                <a:solidFill>
                  <a:srgbClr val="4874C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感谢您的观看</a:t>
            </a:r>
            <a:endParaRPr lang="en-US" sz="1600" dirty="0"/>
          </a:p>
          <a:p>
            <a:pPr algn="r" indent="0" marL="0">
              <a:lnSpc>
                <a:spcPct val="100000"/>
              </a:lnSpc>
              <a:buNone/>
            </a:pPr>
            <a:r>
              <a:rPr lang="en-US" sz="80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THANKS</a:t>
            </a:r>
            <a:endParaRPr lang="en-US" sz="1600" dirty="0"/>
          </a:p>
        </p:txBody>
      </p:sp>
      <p:sp>
        <p:nvSpPr>
          <p:cNvPr id="8" name="Text 3"/>
          <p:cNvSpPr/>
          <p:nvPr/>
        </p:nvSpPr>
        <p:spPr>
          <a:xfrm>
            <a:off x="4686366" y="4203065"/>
            <a:ext cx="6607175" cy="27622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Thank you for watching!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2025-07-18T14:46:10Z</dcterms:created>
  <dcterms:modified xsi:type="dcterms:W3CDTF">2025-07-18T14:46:10Z</dcterms:modified>
</cp:coreProperties>
</file>